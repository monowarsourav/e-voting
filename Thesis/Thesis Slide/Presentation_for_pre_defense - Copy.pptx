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91" r:id="rId5"/>
    <p:sldId id="357" r:id="rId6"/>
    <p:sldId id="347" r:id="rId7"/>
    <p:sldId id="349" r:id="rId8"/>
    <p:sldId id="348" r:id="rId9"/>
    <p:sldId id="352" r:id="rId10"/>
    <p:sldId id="344" r:id="rId11"/>
    <p:sldId id="346" r:id="rId12"/>
    <p:sldId id="345" r:id="rId13"/>
    <p:sldId id="351" r:id="rId14"/>
    <p:sldId id="336" r:id="rId15"/>
    <p:sldId id="337" r:id="rId16"/>
    <p:sldId id="355" r:id="rId17"/>
    <p:sldId id="358" r:id="rId18"/>
    <p:sldId id="338" r:id="rId19"/>
    <p:sldId id="339" r:id="rId20"/>
    <p:sldId id="329" r:id="rId21"/>
    <p:sldId id="30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28" userDrawn="1">
          <p15:clr>
            <a:srgbClr val="A4A3A4"/>
          </p15:clr>
        </p15:guide>
        <p15:guide id="4" orient="horz" pos="3792" userDrawn="1">
          <p15:clr>
            <a:srgbClr val="A4A3A4"/>
          </p15:clr>
        </p15:guide>
        <p15:guide id="5" orient="horz" pos="888" userDrawn="1">
          <p15:clr>
            <a:srgbClr val="A4A3A4"/>
          </p15:clr>
        </p15:guide>
        <p15:guide id="6" pos="288" userDrawn="1">
          <p15:clr>
            <a:srgbClr val="A4A3A4"/>
          </p15:clr>
        </p15:guide>
        <p15:guide id="7" pos="7368" userDrawn="1">
          <p15:clr>
            <a:srgbClr val="A4A3A4"/>
          </p15:clr>
        </p15:guide>
        <p15:guide id="8" orient="horz" pos="2976" userDrawn="1">
          <p15:clr>
            <a:srgbClr val="A4A3A4"/>
          </p15:clr>
        </p15:guide>
        <p15:guide id="9" orient="horz" pos="1440" userDrawn="1">
          <p15:clr>
            <a:srgbClr val="A4A3A4"/>
          </p15:clr>
        </p15:guide>
        <p15:guide id="10" pos="2328" userDrawn="1">
          <p15:clr>
            <a:srgbClr val="A4A3A4"/>
          </p15:clr>
        </p15:guide>
        <p15:guide id="11" pos="5760" userDrawn="1">
          <p15:clr>
            <a:srgbClr val="A4A3A4"/>
          </p15:clr>
        </p15:guide>
        <p15:guide id="12" pos="13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DM Dulal" initials="SD" lastIdx="1" clrIdx="0">
    <p:extLst>
      <p:ext uri="{19B8F6BF-5375-455C-9EA6-DF929625EA0E}">
        <p15:presenceInfo xmlns:p15="http://schemas.microsoft.com/office/powerpoint/2012/main" userId="c1b6e2800aff5676" providerId="Windows Live"/>
      </p:ext>
    </p:extLst>
  </p:cmAuthor>
  <p:cmAuthor id="2" name="Shourav Ahmed Nirob" initials="SN" lastIdx="1" clrIdx="1">
    <p:extLst>
      <p:ext uri="{19B8F6BF-5375-455C-9EA6-DF929625EA0E}">
        <p15:presenceInfo xmlns:p15="http://schemas.microsoft.com/office/powerpoint/2012/main" userId="8bbfb7fa12760c1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382D7B"/>
    <a:srgbClr val="323232"/>
    <a:srgbClr val="D4B9AA"/>
    <a:srgbClr val="FB9AAA"/>
    <a:srgbClr val="D4636B"/>
    <a:srgbClr val="E4E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5688" autoAdjust="0"/>
  </p:normalViewPr>
  <p:slideViewPr>
    <p:cSldViewPr snapToGrid="0" showGuides="1">
      <p:cViewPr varScale="1">
        <p:scale>
          <a:sx n="120" d="100"/>
          <a:sy n="120" d="100"/>
        </p:scale>
        <p:origin x="396" y="96"/>
      </p:cViewPr>
      <p:guideLst>
        <p:guide orient="horz" pos="1224"/>
        <p:guide pos="3840"/>
        <p:guide orient="horz" pos="2328"/>
        <p:guide orient="horz" pos="3792"/>
        <p:guide orient="horz" pos="888"/>
        <p:guide pos="288"/>
        <p:guide pos="7368"/>
        <p:guide orient="horz" pos="2976"/>
        <p:guide orient="horz" pos="1440"/>
        <p:guide pos="2328"/>
        <p:guide pos="5760"/>
        <p:guide pos="1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5" d="100"/>
        <a:sy n="45" d="100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75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04-18T19:32:04.431" idx="1">
    <p:pos x="5546" y="2457"/>
    <p:text>The component diagram identifies software and hardware modules and dependencies,</p:text>
    <p:extLst>
      <p:ext uri="{C676402C-5697-4E1C-873F-D02D1690AC5C}">
        <p15:threadingInfo xmlns:p15="http://schemas.microsoft.com/office/powerpoint/2012/main" timeZoneBias="-36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CA075C-4D1B-48D0-A7A8-1888793452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F46FBE-6CF4-4C17-958C-627D5727A3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05F3D-CCF2-4E7A-A044-E10D4CC4B2D0}" type="datetime1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3AF82-2F55-4A62-9FCC-BCE8DDB18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240CD-7D90-401F-AD3C-B8BF355C90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29498C-979D-4D0E-B055-ACD08A5BF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5843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6DA8D-6F98-49AD-9040-2433FAB9E76C}" type="datetime1">
              <a:rPr lang="en-US" smtClean="0"/>
              <a:t>4/18/2025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9F5B3-7604-9041-B751-11A08572E7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74403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A9F5B3-7604-9041-B751-11A08572E7E3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30C6F-B291-4C5F-8F8B-D5346D503F0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2E7FAF9-5A2B-4FFF-9A8B-E72623C93249}" type="datetime1">
              <a:rPr lang="en-US" smtClean="0"/>
              <a:t>4/18/2025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965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2E2D922-D22B-FE2D-233E-7C19C1063D8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24781" y="2545444"/>
            <a:ext cx="3657600" cy="3657600"/>
          </a:xfrm>
          <a:solidFill>
            <a:schemeClr val="accent1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E9608-82F8-5A3A-8F2B-B02328A17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6" y="850392"/>
            <a:ext cx="11347704" cy="1298448"/>
          </a:xfrm>
        </p:spPr>
        <p:txBody>
          <a:bodyPr anchor="ctr">
            <a:noAutofit/>
          </a:bodyPr>
          <a:lstStyle>
            <a:lvl1pPr algn="l">
              <a:defRPr sz="13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EF1E8-FA5F-A239-4078-955913687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616" y="5138928"/>
            <a:ext cx="5477256" cy="61264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6C6E2D-7286-A78B-3254-6E7A370C6A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76288" y="2880360"/>
            <a:ext cx="1892808" cy="2990088"/>
          </a:xfrm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FFEADD-5074-43DB-8F36-D0CB44E613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2432304"/>
            <a:ext cx="5738812" cy="1298448"/>
          </a:xfrm>
        </p:spPr>
        <p:txBody>
          <a:bodyPr anchor="ctr"/>
          <a:lstStyle>
            <a:lvl1pPr marL="0" indent="0">
              <a:buNone/>
              <a:defRPr sz="13800" b="1" i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933473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AFC17C-12A7-399B-31AC-AE7A040EBBDA}"/>
              </a:ext>
            </a:extLst>
          </p:cNvPr>
          <p:cNvSpPr/>
          <p:nvPr userDrawn="1"/>
        </p:nvSpPr>
        <p:spPr>
          <a:xfrm>
            <a:off x="9129011" y="816964"/>
            <a:ext cx="3062990" cy="6041036"/>
          </a:xfrm>
          <a:prstGeom prst="rect">
            <a:avLst/>
          </a:prstGeom>
          <a:solidFill>
            <a:schemeClr val="accent2">
              <a:lumMod val="60000"/>
              <a:lumOff val="40000"/>
              <a:alpha val="40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32606-8178-6E55-26AD-51AAFF50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0AE91-3B85-16DB-77F3-EDF2472DD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C2A85-E1A4-A097-5C3F-E9D9396F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76F0E-CDE4-F6FD-62E6-E202D97C9C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11312" y="2304288"/>
            <a:ext cx="3172968" cy="3172968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2F2BA9-7FBD-D1B5-303E-B240F73D5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22192" y="2176272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F02BC-C132-F5F7-4A13-D0E96037F1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22192" y="2914650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BE18830-001B-B82E-701F-2D308BC984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22192" y="3653028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DB0F7C2-3561-BA83-5415-4B8330C5BF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22192" y="4391406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D45539-3B3A-464F-2480-A7235DE9D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22192" y="5129784"/>
            <a:ext cx="3794760" cy="46634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642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D45539-3B3A-464F-2480-A7235DE9D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154680"/>
            <a:ext cx="12198096" cy="1709928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8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32606-8178-6E55-26AD-51AAFF50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800"/>
            <a:ext cx="12198096" cy="1709928"/>
          </a:xfrm>
        </p:spPr>
        <p:txBody>
          <a:bodyPr>
            <a:noAutofit/>
          </a:bodyPr>
          <a:lstStyle>
            <a:lvl1pPr algn="ctr">
              <a:defRPr sz="13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0AE91-3B85-16DB-77F3-EDF2472DD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C2A85-E1A4-A097-5C3F-E9D9396F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2F2BA9-7FBD-D1B5-303E-B240F73D5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587752"/>
            <a:ext cx="12198096" cy="1508760"/>
          </a:xfrm>
          <a:solidFill>
            <a:schemeClr val="accent1"/>
          </a:solidFill>
        </p:spPr>
        <p:txBody>
          <a:bodyPr lIns="877824" rIns="87782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072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090B92F-B1E5-5257-95EF-9608691E72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87762" y="850614"/>
            <a:ext cx="3392424" cy="3392424"/>
          </a:xfrm>
          <a:solidFill>
            <a:schemeClr val="accent1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0590DB-1CC1-812C-5B3B-E798A1954E1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31347" y="4545496"/>
            <a:ext cx="0" cy="2312504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450C0AB6-9748-6CBD-93E7-334B0BA5A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6" y="850392"/>
            <a:ext cx="11347704" cy="1298448"/>
          </a:xfrm>
        </p:spPr>
        <p:txBody>
          <a:bodyPr anchor="ctr">
            <a:noAutofit/>
          </a:bodyPr>
          <a:lstStyle>
            <a:lvl1pPr algn="l">
              <a:defRPr sz="13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2259711-7EFE-2148-F50E-25FD01E326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2432304"/>
            <a:ext cx="5738812" cy="1298448"/>
          </a:xfrm>
        </p:spPr>
        <p:txBody>
          <a:bodyPr anchor="ctr"/>
          <a:lstStyle>
            <a:lvl1pPr marL="0" indent="0">
              <a:buNone/>
              <a:defRPr sz="13800" b="1" i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4EDA27-F4C5-CD0B-F971-E7FD300C4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616" y="5138928"/>
            <a:ext cx="7123176" cy="61264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AAF858D-31E9-7D8F-B203-45B2703EC3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86800" y="2286000"/>
            <a:ext cx="1993392" cy="3163824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62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8054-F9DF-2FE3-0142-D4893191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55DDE-FFCC-5750-83A9-F88E2F74A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264" y="1947672"/>
            <a:ext cx="10296144" cy="4370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A0D14-310A-2EDC-99A1-FCFA29C78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31091" y="983633"/>
            <a:ext cx="1728216" cy="2834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3FDCA-382D-537C-5751-191D136E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0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50C0AB6-9748-6CBD-93E7-334B0BA5A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984" y="932688"/>
            <a:ext cx="10552176" cy="4764024"/>
          </a:xfrm>
        </p:spPr>
        <p:txBody>
          <a:bodyPr anchor="ctr">
            <a:noAutofit/>
          </a:bodyPr>
          <a:lstStyle>
            <a:lvl1pPr algn="ctr">
              <a:defRPr sz="82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4EDA27-F4C5-CD0B-F971-E7FD300C4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3408" y="5788152"/>
            <a:ext cx="2578608" cy="61264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215B41-53EF-7995-A29E-CF60C8A56CEF}"/>
              </a:ext>
            </a:extLst>
          </p:cNvPr>
          <p:cNvCxnSpPr>
            <a:cxnSpLocks/>
          </p:cNvCxnSpPr>
          <p:nvPr userDrawn="1"/>
        </p:nvCxnSpPr>
        <p:spPr>
          <a:xfrm>
            <a:off x="0" y="6009861"/>
            <a:ext cx="6446922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9C915-8D4C-5E75-F776-9CD4D8D7E5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1143000"/>
            <a:ext cx="2752344" cy="2551176"/>
          </a:xfrm>
        </p:spPr>
        <p:txBody>
          <a:bodyPr/>
          <a:lstStyle>
            <a:lvl1pPr marL="0" indent="0" algn="ctr">
              <a:buNone/>
              <a:defRPr sz="40000" b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095A89F-EF79-78DD-BEDC-74C21F5D5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91472" y="4745736"/>
            <a:ext cx="2752344" cy="2551176"/>
          </a:xfrm>
        </p:spPr>
        <p:txBody>
          <a:bodyPr/>
          <a:lstStyle>
            <a:lvl1pPr marL="0" indent="0" algn="ctr">
              <a:buNone/>
              <a:defRPr sz="40000" b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371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4DD8-0FD2-091E-4A43-D5285DD8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C009C9-3824-FABC-07B9-A4C9BC63627A}"/>
              </a:ext>
            </a:extLst>
          </p:cNvPr>
          <p:cNvSpPr/>
          <p:nvPr userDrawn="1"/>
        </p:nvSpPr>
        <p:spPr>
          <a:xfrm>
            <a:off x="976788" y="1933921"/>
            <a:ext cx="1959429" cy="49332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023D4-A9ED-002F-0B45-019DB4997807}"/>
              </a:ext>
            </a:extLst>
          </p:cNvPr>
          <p:cNvSpPr/>
          <p:nvPr userDrawn="1"/>
        </p:nvSpPr>
        <p:spPr>
          <a:xfrm>
            <a:off x="6394674" y="1933921"/>
            <a:ext cx="1959429" cy="49332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2C298F-D572-B084-FEE9-B3E572860979}"/>
              </a:ext>
            </a:extLst>
          </p:cNvPr>
          <p:cNvCxnSpPr>
            <a:cxnSpLocks/>
          </p:cNvCxnSpPr>
          <p:nvPr userDrawn="1"/>
        </p:nvCxnSpPr>
        <p:spPr>
          <a:xfrm>
            <a:off x="3078820" y="2982133"/>
            <a:ext cx="294894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1AC3B6-A5EE-CC6F-3D11-437B77131B2E}"/>
              </a:ext>
            </a:extLst>
          </p:cNvPr>
          <p:cNvCxnSpPr>
            <a:cxnSpLocks/>
          </p:cNvCxnSpPr>
          <p:nvPr userDrawn="1"/>
        </p:nvCxnSpPr>
        <p:spPr>
          <a:xfrm>
            <a:off x="3068653" y="5567880"/>
            <a:ext cx="294894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0AF34A-9EAC-D22C-71D6-89C99B36221A}"/>
              </a:ext>
            </a:extLst>
          </p:cNvPr>
          <p:cNvCxnSpPr>
            <a:cxnSpLocks/>
          </p:cNvCxnSpPr>
          <p:nvPr userDrawn="1"/>
        </p:nvCxnSpPr>
        <p:spPr>
          <a:xfrm>
            <a:off x="8461423" y="2982133"/>
            <a:ext cx="294894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90D898-E343-5199-7EA3-0DE4BD9767D8}"/>
              </a:ext>
            </a:extLst>
          </p:cNvPr>
          <p:cNvCxnSpPr>
            <a:cxnSpLocks/>
          </p:cNvCxnSpPr>
          <p:nvPr userDrawn="1"/>
        </p:nvCxnSpPr>
        <p:spPr>
          <a:xfrm>
            <a:off x="8461423" y="5566074"/>
            <a:ext cx="294894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00B5647-2B6E-CFB8-05E2-D6D583A8260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84248" y="2157984"/>
            <a:ext cx="1207008" cy="1709928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3909E6A2-2DD4-4F22-956D-1B5E586C49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79208" y="2157984"/>
            <a:ext cx="1207008" cy="1709928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430630E9-C15D-F5DD-A03B-EEE67E761D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83643" y="4736592"/>
            <a:ext cx="1207008" cy="1709928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93530D4-E207-8018-C54B-C19326257D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78603" y="4736592"/>
            <a:ext cx="1207008" cy="1709928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E0D0207-76F2-C0FA-F313-F5D2F82656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57016" y="2395728"/>
            <a:ext cx="2459736" cy="365760"/>
          </a:xfrm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4050553-7D63-5588-8C42-A3985DF290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51976" y="2395728"/>
            <a:ext cx="2459736" cy="365760"/>
          </a:xfrm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C83E3C83-61EE-7F38-6617-297F33FDF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57016" y="4983480"/>
            <a:ext cx="2459736" cy="365760"/>
          </a:xfrm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E4F0C230-CEF2-4829-F9D9-4A9D8CC18F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51976" y="4983480"/>
            <a:ext cx="2459736" cy="365760"/>
          </a:xfrm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3C4BFE65-A254-A1B2-2B09-5BB8085A33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68337" y="2816352"/>
            <a:ext cx="1810512" cy="256032"/>
          </a:xfrm>
          <a:solidFill>
            <a:schemeClr val="accent1"/>
          </a:solidFill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885B50-26EE-88F4-89DB-7736CBB248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51976" y="2816352"/>
            <a:ext cx="1810512" cy="256032"/>
          </a:xfrm>
          <a:solidFill>
            <a:schemeClr val="accent1"/>
          </a:solidFill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1CC9E02-F419-645B-186B-D3FDF688B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568337" y="5349240"/>
            <a:ext cx="1810512" cy="365760"/>
          </a:xfrm>
          <a:solidFill>
            <a:schemeClr val="accent1"/>
          </a:solidFill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D6BFA8DA-6AF0-61F1-45B2-1FDCC246E6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951976" y="5349240"/>
            <a:ext cx="1810512" cy="365760"/>
          </a:xfrm>
          <a:solidFill>
            <a:schemeClr val="accent1"/>
          </a:solidFill>
        </p:spPr>
        <p:txBody>
          <a:bodyPr lIns="109728" tIns="109728" rIns="109728" bIns="9144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7C7F2D53-0EE2-0959-BEDE-668007CB09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0E7E5B21-86A3-5D02-E445-C1E918046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26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99AD27-1F9E-2F81-1D38-74CDE4087F98}"/>
              </a:ext>
            </a:extLst>
          </p:cNvPr>
          <p:cNvSpPr/>
          <p:nvPr userDrawn="1"/>
        </p:nvSpPr>
        <p:spPr>
          <a:xfrm>
            <a:off x="0" y="2632933"/>
            <a:ext cx="12205251" cy="43218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54DD8-0FD2-091E-4A43-D5285DD8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00B5647-2B6E-CFB8-05E2-D6D583A8260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9848" y="1947672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3909E6A2-2DD4-4F22-956D-1B5E586C49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77056" y="1947672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430630E9-C15D-F5DD-A03B-EEE67E761D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11696" y="1947672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93530D4-E207-8018-C54B-C19326257D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91472" y="1947672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E0D0207-76F2-C0FA-F313-F5D2F82656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1832" y="3593592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4050553-7D63-5588-8C42-A3985DF290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58184" y="3593592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C83E3C83-61EE-7F38-6617-297F33FDF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680" y="3593592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E4F0C230-CEF2-4829-F9D9-4A9D8CC18F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72600" y="3593592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3C4BFE65-A254-A1B2-2B09-5BB8085A33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1832" y="390448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885B50-26EE-88F4-89DB-7736CBB248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8184" y="390448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1CC9E02-F419-645B-186B-D3FDF688B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83680" y="390448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D6BFA8DA-6AF0-61F1-45B2-1FDCC246E6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72600" y="390448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A1A3BD0B-A18A-8787-8F97-D7570F2D8ED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69848" y="4398264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0EE97C40-9EA8-1271-799B-861AADDA89C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877056" y="4398264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9553C6EE-C9CA-36E2-FEA4-9279C954531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11696" y="4398264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3E1E7EF7-6119-3B30-6256-741E415C098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491472" y="4398264"/>
            <a:ext cx="1609344" cy="1609344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B0A4A9F-4439-5B3D-FEA1-2EEAA3B1ED5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41832" y="6080760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5D11883B-FD87-FA9B-714F-5F02AE0291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758184" y="6080760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15AFF5E4-27E8-EB92-B33F-CD49000CAB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3680" y="6080760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7DD26773-1C83-BF12-BAA8-AEC17A8B523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72600" y="6080760"/>
            <a:ext cx="1901952" cy="347472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cap="all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504DD6A5-3D1E-AB04-C217-0F9ABAA852C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41832" y="637336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2860D1AB-1DEE-EA78-C939-96F7962D258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758184" y="637336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46FAB9C9-9535-D927-5ED4-2A2039CD639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83680" y="637336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27B80C8A-FB49-A852-F6DE-5C2A1223F2E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372600" y="6373368"/>
            <a:ext cx="1901952" cy="182880"/>
          </a:xfr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cap="none" spc="20" baseline="0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10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34BBA69-4DC3-B6B5-F4C1-6B25DDED5A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2739" y="1949428"/>
            <a:ext cx="685800" cy="3240088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3CF3E7-06EB-A521-4C56-E4CA3DD2BE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4488" y="1949450"/>
            <a:ext cx="685800" cy="3240088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9BFAC58-F350-7AB0-04A2-D1284CA80F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9008" y="1949428"/>
            <a:ext cx="685800" cy="3240088"/>
          </a:xfrm>
          <a:solidFill>
            <a:schemeClr val="accent4">
              <a:lumMod val="60000"/>
              <a:lumOff val="4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7F9C969-6E6E-F416-8977-083F8F482F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98664" y="1949428"/>
            <a:ext cx="685800" cy="3240088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A5B06717-E8CC-113A-852F-ABF4C69524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36608" y="1949428"/>
            <a:ext cx="685800" cy="3240088"/>
          </a:xfrm>
          <a:solidFill>
            <a:schemeClr val="accent3">
              <a:lumMod val="60000"/>
              <a:lumOff val="4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E14789EF-5CDE-6313-24AA-19D63DBA22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 rot="16200000">
            <a:off x="676656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45183E19-6396-BC37-585D-3459E5A6F0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 rot="16200000">
            <a:off x="2523744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93298C-7BDF-4FEB-9D50-9A70106605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16200000">
            <a:off x="4389120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1C205F30-117C-F9B2-1DF1-4D808D72F0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 rot="16200000">
            <a:off x="8046720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540A601-AB84-B187-127D-635BEAC7D2A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 rot="16200000">
            <a:off x="6199632" y="3785616"/>
            <a:ext cx="2359152" cy="466344"/>
          </a:xfrm>
          <a:noFill/>
        </p:spPr>
        <p:txBody>
          <a:bodyPr lIns="0" anchor="ctr"/>
          <a:lstStyle>
            <a:lvl1pPr marL="0" indent="0">
              <a:lnSpc>
                <a:spcPct val="90000"/>
              </a:lnSpc>
              <a:buNone/>
              <a:defRPr sz="2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39FB08DE-7839-B706-A263-C826C48159C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215750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A93934A6-FE95-C496-F14E-85DA799206A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052969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C30B205-E799-B533-0710-85E8A6AED6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90188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AFE0358-280A-EB8E-E2C5-932F3BD9F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27407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E7337DF9-BEE0-9960-3F78-987551585C7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64624" y="2615184"/>
            <a:ext cx="1444752" cy="2231136"/>
          </a:xfrm>
        </p:spPr>
        <p:txBody>
          <a:bodyPr lIns="0" tIns="91440" bIns="146304" anchor="t"/>
          <a:lstStyle>
            <a:lvl1pPr marL="0" indent="0">
              <a:lnSpc>
                <a:spcPct val="90000"/>
              </a:lnSpc>
              <a:buNone/>
              <a:defRPr sz="1400" cap="none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7474658-A5AD-9D5A-7FD0-7082AC30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3013595B-EBCE-B1FB-3943-6DD82772C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9398F5FD-521F-F335-268A-7300D928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81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F4C9462-DD7C-E02D-1CDD-3A9BC288BE01}"/>
              </a:ext>
            </a:extLst>
          </p:cNvPr>
          <p:cNvSpPr/>
          <p:nvPr userDrawn="1"/>
        </p:nvSpPr>
        <p:spPr>
          <a:xfrm>
            <a:off x="6095999" y="0"/>
            <a:ext cx="6096000" cy="4762500"/>
          </a:xfrm>
          <a:prstGeom prst="rect">
            <a:avLst/>
          </a:prstGeom>
          <a:solidFill>
            <a:schemeClr val="accent4">
              <a:lumMod val="40000"/>
              <a:lumOff val="60000"/>
              <a:alpha val="40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8996-D220-8B05-AE12-5AC4341BB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8224" y="2002536"/>
            <a:ext cx="727862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C794-4A27-9A79-42A9-AFA939B20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8224" y="2615184"/>
            <a:ext cx="7278624" cy="1179576"/>
          </a:xfrm>
        </p:spPr>
        <p:txBody>
          <a:bodyPr lIns="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120D9-C6AF-17C8-8F32-1FEE6BFBC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078224" y="4352544"/>
            <a:ext cx="727862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44281-6BA8-08CC-F27B-A84598690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078224" y="4983480"/>
            <a:ext cx="7278624" cy="1179576"/>
          </a:xfrm>
        </p:spPr>
        <p:txBody>
          <a:bodyPr lIns="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180249D-D2B0-9DE0-465A-6DA7FEB8A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2B3893C-830A-CE74-7EA8-9BB69F63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B4121-C7B1-D448-DE15-4DFEA09D0655}"/>
              </a:ext>
            </a:extLst>
          </p:cNvPr>
          <p:cNvCxnSpPr>
            <a:cxnSpLocks/>
          </p:cNvCxnSpPr>
          <p:nvPr userDrawn="1"/>
        </p:nvCxnSpPr>
        <p:spPr>
          <a:xfrm>
            <a:off x="-2" y="2315959"/>
            <a:ext cx="3858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6431E3-2BD2-4D62-E397-DC4A847C7F2A}"/>
              </a:ext>
            </a:extLst>
          </p:cNvPr>
          <p:cNvCxnSpPr>
            <a:cxnSpLocks/>
          </p:cNvCxnSpPr>
          <p:nvPr userDrawn="1"/>
        </p:nvCxnSpPr>
        <p:spPr>
          <a:xfrm>
            <a:off x="-2" y="4659109"/>
            <a:ext cx="3858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09AB8F6B-6D48-A68F-FD44-35F659AF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373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E26A0C-E42F-6A2A-044B-8C817559CB87}"/>
              </a:ext>
            </a:extLst>
          </p:cNvPr>
          <p:cNvSpPr/>
          <p:nvPr userDrawn="1"/>
        </p:nvSpPr>
        <p:spPr>
          <a:xfrm>
            <a:off x="4377128" y="3560257"/>
            <a:ext cx="7814872" cy="3297743"/>
          </a:xfrm>
          <a:prstGeom prst="rect">
            <a:avLst/>
          </a:prstGeom>
          <a:solidFill>
            <a:schemeClr val="accent2">
              <a:lumMod val="40000"/>
              <a:lumOff val="60000"/>
              <a:alpha val="40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56E3D2-16B0-AFFA-51A9-B37F5830B6D9}"/>
              </a:ext>
            </a:extLst>
          </p:cNvPr>
          <p:cNvCxnSpPr>
            <a:cxnSpLocks/>
          </p:cNvCxnSpPr>
          <p:nvPr userDrawn="1"/>
        </p:nvCxnSpPr>
        <p:spPr>
          <a:xfrm>
            <a:off x="0" y="2657582"/>
            <a:ext cx="10782300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8996-D220-8B05-AE12-5AC4341BB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4208" y="1929384"/>
            <a:ext cx="243230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C794-4A27-9A79-42A9-AFA939B20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4208" y="2926080"/>
            <a:ext cx="2569464" cy="2093976"/>
          </a:xfrm>
        </p:spPr>
        <p:txBody>
          <a:bodyPr lIns="0" rIns="18288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120D9-C6AF-17C8-8F32-1FEE6BFBC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0912" y="1929384"/>
            <a:ext cx="243230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44281-6BA8-08CC-F27B-A84598690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0912" y="2926080"/>
            <a:ext cx="2569464" cy="2093976"/>
          </a:xfrm>
        </p:spPr>
        <p:txBody>
          <a:bodyPr lIns="0" rIns="18288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180249D-D2B0-9DE0-465A-6DA7FEB8A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2B3893C-830A-CE74-7EA8-9BB69F63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9AB8F6B-6D48-A68F-FD44-35F659AF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537EA5E-3E96-57B0-C639-22C290FCD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48472" y="1929384"/>
            <a:ext cx="2432304" cy="630936"/>
          </a:xfrm>
        </p:spPr>
        <p:txBody>
          <a:bodyPr lIns="0" anchor="ctr"/>
          <a:lstStyle>
            <a:lvl1pPr marL="0" indent="0">
              <a:buNone/>
              <a:defRPr sz="2400" b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81D5F3B-60ED-CA80-3AE7-2EFC356E77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48472" y="2926080"/>
            <a:ext cx="2569464" cy="2093976"/>
          </a:xfrm>
        </p:spPr>
        <p:txBody>
          <a:bodyPr lIns="0" rIns="18288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223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D45539-3B3A-464F-2480-A7235DE9D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154680"/>
            <a:ext cx="12198096" cy="1709928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3800" b="1" cap="all" baseline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32606-8178-6E55-26AD-51AAFF50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800"/>
            <a:ext cx="12198096" cy="1709928"/>
          </a:xfrm>
        </p:spPr>
        <p:txBody>
          <a:bodyPr>
            <a:noAutofit/>
          </a:bodyPr>
          <a:lstStyle>
            <a:lvl1pPr algn="ctr">
              <a:defRPr sz="13800" cap="all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0AE91-3B85-16DB-77F3-EDF2472DD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C2A85-E1A4-A097-5C3F-E9D9396F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2F2BA9-7FBD-D1B5-303E-B240F73D5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587752"/>
            <a:ext cx="12198096" cy="1508760"/>
          </a:xfrm>
          <a:solidFill>
            <a:schemeClr val="accent3"/>
          </a:solidFill>
        </p:spPr>
        <p:txBody>
          <a:bodyPr lIns="877824" rIns="87782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879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6C6E2D-7286-A78B-3254-6E7A370C6A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53528" y="2532888"/>
            <a:ext cx="3730752" cy="3721608"/>
          </a:xfrm>
          <a:solidFill>
            <a:schemeClr val="accent1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E9608-82F8-5A3A-8F2B-B02328A17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6" y="850392"/>
            <a:ext cx="11347704" cy="1298448"/>
          </a:xfrm>
        </p:spPr>
        <p:txBody>
          <a:bodyPr anchor="ctr">
            <a:noAutofit/>
          </a:bodyPr>
          <a:lstStyle>
            <a:lvl1pPr algn="l">
              <a:defRPr sz="13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EF1E8-FA5F-A239-4078-955913687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616" y="4187952"/>
            <a:ext cx="5376672" cy="13716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FFEADD-5074-43DB-8F36-D0CB44E613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2432304"/>
            <a:ext cx="5738812" cy="1298448"/>
          </a:xfrm>
        </p:spPr>
        <p:txBody>
          <a:bodyPr anchor="ctr"/>
          <a:lstStyle>
            <a:lvl1pPr marL="0" indent="0">
              <a:buNone/>
              <a:defRPr sz="13800" b="1" i="1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43883A3-D444-AA65-322E-C4F2B6692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32704" y="3593592"/>
            <a:ext cx="3410712" cy="1783080"/>
          </a:xfr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0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F4C9462-DD7C-E02D-1CDD-3A9BC288BE01}"/>
              </a:ext>
            </a:extLst>
          </p:cNvPr>
          <p:cNvSpPr/>
          <p:nvPr userDrawn="1"/>
        </p:nvSpPr>
        <p:spPr>
          <a:xfrm>
            <a:off x="6095999" y="0"/>
            <a:ext cx="6096000" cy="4762500"/>
          </a:xfrm>
          <a:prstGeom prst="rect">
            <a:avLst/>
          </a:prstGeom>
          <a:solidFill>
            <a:schemeClr val="accent4">
              <a:lumMod val="40000"/>
              <a:lumOff val="60000"/>
              <a:alpha val="4078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C794-4A27-9A79-42A9-AFA939B20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8224" y="1984248"/>
            <a:ext cx="7278624" cy="1810512"/>
          </a:xfrm>
        </p:spPr>
        <p:txBody>
          <a:bodyPr lIns="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44281-6BA8-08CC-F27B-A84598690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078224" y="4352544"/>
            <a:ext cx="7278624" cy="1810512"/>
          </a:xfrm>
        </p:spPr>
        <p:txBody>
          <a:bodyPr lIns="0"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180249D-D2B0-9DE0-465A-6DA7FEB8A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2B3893C-830A-CE74-7EA8-9BB69F63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B4121-C7B1-D448-DE15-4DFEA09D0655}"/>
              </a:ext>
            </a:extLst>
          </p:cNvPr>
          <p:cNvCxnSpPr>
            <a:cxnSpLocks/>
          </p:cNvCxnSpPr>
          <p:nvPr userDrawn="1"/>
        </p:nvCxnSpPr>
        <p:spPr>
          <a:xfrm>
            <a:off x="-2" y="2315959"/>
            <a:ext cx="3858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6431E3-2BD2-4D62-E397-DC4A847C7F2A}"/>
              </a:ext>
            </a:extLst>
          </p:cNvPr>
          <p:cNvCxnSpPr>
            <a:cxnSpLocks/>
          </p:cNvCxnSpPr>
          <p:nvPr userDrawn="1"/>
        </p:nvCxnSpPr>
        <p:spPr>
          <a:xfrm>
            <a:off x="-2" y="4659109"/>
            <a:ext cx="3858207" cy="0"/>
          </a:xfrm>
          <a:prstGeom prst="line">
            <a:avLst/>
          </a:prstGeom>
          <a:ln w="15875" cap="sq" cmpd="sng"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09AB8F6B-6D48-A68F-FD44-35F659AF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0"/>
            <a:ext cx="10936224" cy="12984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7991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7BFC0-622D-78DB-4C7F-A2FA024C5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CFF80F-DCFA-670B-579E-37B302452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31091" y="983633"/>
            <a:ext cx="1728216" cy="2834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5F004-91A0-6002-ADBC-13D488B34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72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5F8A4-5F7C-D72D-3152-E32D36CB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31091" y="983633"/>
            <a:ext cx="1728216" cy="2834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25242-09B4-0142-6671-8450905AA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F0449-EF10-3E4D-894D-3DE10CF420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075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C525B-C154-D20D-97A4-047C9CC9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1B8FF-2966-C2CF-BC8F-A322410A5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88CC0-E81C-D2FD-24CC-8D1179C58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E7F841FD-D5EE-62EE-F649-30697BB81B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533D4FA-41B7-3B85-9984-899340B9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436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58E3-7897-8638-F0DE-3DDACC00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E7686-00A6-DD15-45FE-E6663C21E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71584-1072-B88D-B424-16D9F75AC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D4020094-C16F-1070-9F84-9CBF13F85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6848" y="6400800"/>
            <a:ext cx="438912" cy="246888"/>
          </a:xfrm>
        </p:spPr>
        <p:txBody>
          <a:bodyPr>
            <a:noAutofit/>
          </a:bodyPr>
          <a:lstStyle/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24EA55D-AFC4-F4F2-FB5D-EB20AFEA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00800"/>
            <a:ext cx="2916936" cy="246888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10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11206C-54A4-0DD2-0DA0-0828D48A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9B531-1C66-2F6C-4232-5ADD330DF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64FE0-ADDF-F3C6-AEAB-A27E120C2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5369" y="6428281"/>
            <a:ext cx="402336" cy="2834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C0F0449-EF10-3E4D-894D-3DE10CF420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710315-F2E5-50AA-6E01-B56CA2A14274}"/>
              </a:ext>
            </a:extLst>
          </p:cNvPr>
          <p:cNvCxnSpPr>
            <a:cxnSpLocks/>
          </p:cNvCxnSpPr>
          <p:nvPr userDrawn="1"/>
        </p:nvCxnSpPr>
        <p:spPr>
          <a:xfrm>
            <a:off x="334058" y="1754908"/>
            <a:ext cx="0" cy="4562299"/>
          </a:xfrm>
          <a:prstGeom prst="line">
            <a:avLst/>
          </a:prstGeom>
          <a:ln w="12700" cap="sq" cmpd="sng"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5CE6DBE-1597-24EC-79C6-1B2879B16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531091" y="983633"/>
            <a:ext cx="1728216" cy="2834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Implementing Federal Blockchain in E-Voting: A Revolutionary Approach to Transparent and Secure Elections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955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51" r:id="rId4"/>
    <p:sldLayoutId id="2147483650" r:id="rId5"/>
    <p:sldLayoutId id="2147483663" r:id="rId6"/>
    <p:sldLayoutId id="2147483664" r:id="rId7"/>
    <p:sldLayoutId id="2147483665" r:id="rId8"/>
    <p:sldLayoutId id="2147483666" r:id="rId9"/>
    <p:sldLayoutId id="2147483653" r:id="rId10"/>
    <p:sldLayoutId id="2147483667" r:id="rId11"/>
    <p:sldLayoutId id="2147483668" r:id="rId12"/>
    <p:sldLayoutId id="2147483669" r:id="rId13"/>
    <p:sldLayoutId id="2147483670" r:id="rId14"/>
    <p:sldLayoutId id="2147483654" r:id="rId15"/>
    <p:sldLayoutId id="2147483655" r:id="rId16"/>
    <p:sldLayoutId id="2147483656" r:id="rId17"/>
    <p:sldLayoutId id="2147483657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2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8">
            <a:extLst>
              <a:ext uri="{FF2B5EF4-FFF2-40B4-BE49-F238E27FC236}">
                <a16:creationId xmlns:a16="http://schemas.microsoft.com/office/drawing/2014/main" id="{387C7E9A-3AC6-4963-8695-B65AE7879EE1}"/>
              </a:ext>
            </a:extLst>
          </p:cNvPr>
          <p:cNvSpPr txBox="1"/>
          <p:nvPr/>
        </p:nvSpPr>
        <p:spPr>
          <a:xfrm>
            <a:off x="857580" y="3805402"/>
            <a:ext cx="429620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– 12345</a:t>
            </a:r>
          </a:p>
          <a:p>
            <a:pPr lvl="0">
              <a:spcBef>
                <a:spcPts val="600"/>
              </a:spcBef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123456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 – 1234567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057D2FF6-CBDD-45BF-B09D-F94F51298EFC}"/>
              </a:ext>
            </a:extLst>
          </p:cNvPr>
          <p:cNvSpPr txBox="1"/>
          <p:nvPr/>
        </p:nvSpPr>
        <p:spPr>
          <a:xfrm>
            <a:off x="6401867" y="4028540"/>
            <a:ext cx="429620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Supervisors-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Ahsan Habib,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lvl="0" algn="ctr">
              <a:spcBef>
                <a:spcPts val="600"/>
              </a:spcBef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Sudip Ghoshal, Lecturer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0800" y="2756233"/>
            <a:ext cx="7302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Thesis Pre-Defense – Spring 2025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 January 2025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C7D7ED-ADCC-44BF-9DB1-56B154848C01}"/>
              </a:ext>
            </a:extLst>
          </p:cNvPr>
          <p:cNvSpPr txBox="1"/>
          <p:nvPr/>
        </p:nvSpPr>
        <p:spPr>
          <a:xfrm>
            <a:off x="148441" y="1230879"/>
            <a:ext cx="118951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E078C4-EB63-455C-9FCF-2C33A7540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761" y="-64287"/>
            <a:ext cx="3418477" cy="13137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91033F-C08E-4EF2-9E7B-2C37045621A9}"/>
              </a:ext>
            </a:extLst>
          </p:cNvPr>
          <p:cNvSpPr txBox="1"/>
          <p:nvPr/>
        </p:nvSpPr>
        <p:spPr>
          <a:xfrm>
            <a:off x="-65599" y="592409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University of Bangladesh </a:t>
            </a:r>
          </a:p>
        </p:txBody>
      </p:sp>
    </p:spTree>
    <p:extLst>
      <p:ext uri="{BB962C8B-B14F-4D97-AF65-F5344CB8AC3E}">
        <p14:creationId xmlns:p14="http://schemas.microsoft.com/office/powerpoint/2010/main" val="112277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DF289F0-B8C7-410C-94DF-72E3977294B4}"/>
              </a:ext>
            </a:extLst>
          </p:cNvPr>
          <p:cNvSpPr txBox="1"/>
          <p:nvPr/>
        </p:nvSpPr>
        <p:spPr>
          <a:xfrm>
            <a:off x="1694254" y="1589681"/>
            <a:ext cx="437892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Introduction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What is Blockchain?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7200" lvl="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GB" sz="2400" dirty="0">
                <a:solidFill>
                  <a:schemeClr val="dk1"/>
                </a:solidFill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Proposed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178C43-D0BD-492A-BC8A-CAE44D375DBB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C26E1F-C7D9-4DE4-8E9C-56C53F017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05F55B-F3BB-445F-850C-A6082316C3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388169-DD21-4FD0-A93A-9375BB3FC33C}"/>
              </a:ext>
            </a:extLst>
          </p:cNvPr>
          <p:cNvSpPr txBox="1"/>
          <p:nvPr/>
        </p:nvSpPr>
        <p:spPr>
          <a:xfrm>
            <a:off x="2522622" y="303052"/>
            <a:ext cx="7101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10724A-0675-4D16-B1AA-FB14F1D3C68D}"/>
              </a:ext>
            </a:extLst>
          </p:cNvPr>
          <p:cNvSpPr txBox="1"/>
          <p:nvPr/>
        </p:nvSpPr>
        <p:spPr>
          <a:xfrm>
            <a:off x="6779509" y="1889020"/>
            <a:ext cx="3718237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Dataflow Diagram</a:t>
            </a:r>
          </a:p>
          <a:p>
            <a:pPr marL="457200" lvl="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lvl="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 Chart</a:t>
            </a:r>
          </a:p>
          <a:p>
            <a:pPr marL="457200" lvl="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Plan</a:t>
            </a:r>
          </a:p>
          <a:p>
            <a:pPr marL="457200" lvl="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51B779-325F-5B19-9209-9D596BF34AB7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4A548-AE7B-B0F9-BAFD-DDB1FD536B28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246690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E9C093-D791-442A-8D57-CFCAA5727182}"/>
              </a:ext>
            </a:extLst>
          </p:cNvPr>
          <p:cNvSpPr txBox="1"/>
          <p:nvPr/>
        </p:nvSpPr>
        <p:spPr>
          <a:xfrm>
            <a:off x="2522621" y="324648"/>
            <a:ext cx="7101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2008" y="1127281"/>
            <a:ext cx="10288988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E-voting replaces slow, error-prone paper ballots, reduces resource waste, and minimizes manual tallying mistakes. It broadens voter access, allowing voting from anywhere at any time. </a:t>
            </a:r>
          </a:p>
          <a:p>
            <a:pPr algn="just"/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often rely on single layer authentication and lack liveness checks, increasing impersonation risks. </a:t>
            </a:r>
          </a:p>
          <a:p>
            <a:pPr algn="just"/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technology enhances e-voting with tamper-evident votes, automated tallying, and real-time results.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E-Voting system addresses these issues with live </a:t>
            </a:r>
            <a:r>
              <a:rPr lang="en-US" sz="17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biometric authentication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double-layer security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secret-sharing, and efficient </a:t>
            </a:r>
            <a:r>
              <a:rPr lang="en-US" sz="17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tallying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ensures stronger voter identity, </a:t>
            </a:r>
            <a:r>
              <a:rPr lang="en-US" sz="17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verifiability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scalable performance.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5DB9FF-6F76-4315-B054-94F6B38C2B0E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80BBDAA-0F61-45D9-8285-8A21F1C30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41F6CA-FBD9-4F8F-8670-9A1818151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1836AF-853B-F9BB-963B-E438BC0B4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7962" y="3899779"/>
            <a:ext cx="6017079" cy="26703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31B028-607D-6A78-DB06-E8C41596E49B}"/>
              </a:ext>
            </a:extLst>
          </p:cNvPr>
          <p:cNvSpPr txBox="1"/>
          <p:nvPr/>
        </p:nvSpPr>
        <p:spPr>
          <a:xfrm>
            <a:off x="3904090" y="6122504"/>
            <a:ext cx="2957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Component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BFC66E-C34D-80CE-CB79-D448DFCD4733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33148B-A850-133B-9E4D-415F2D24DB34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2524354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E9C093-D791-442A-8D57-CFCAA5727182}"/>
              </a:ext>
            </a:extLst>
          </p:cNvPr>
          <p:cNvSpPr txBox="1"/>
          <p:nvPr/>
        </p:nvSpPr>
        <p:spPr>
          <a:xfrm>
            <a:off x="2491183" y="332928"/>
            <a:ext cx="7101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Blockchain?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974F21-4378-4197-9498-C51522333AA4}"/>
              </a:ext>
            </a:extLst>
          </p:cNvPr>
          <p:cNvSpPr/>
          <p:nvPr/>
        </p:nvSpPr>
        <p:spPr>
          <a:xfrm>
            <a:off x="682388" y="1187234"/>
            <a:ext cx="7134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blockchain is a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database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maintains a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keep-growing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of ordered records called blocks.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CEC3-0195-43FE-A646-8425C39DB007}"/>
              </a:ext>
            </a:extLst>
          </p:cNvPr>
          <p:cNvSpPr txBox="1"/>
          <p:nvPr/>
        </p:nvSpPr>
        <p:spPr>
          <a:xfrm>
            <a:off x="1064324" y="2055942"/>
            <a:ext cx="678533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Combine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above elements.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block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Hash: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with the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block's hash.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block data.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SHA-256 to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 hash.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for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proof-of-work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adjustments.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Merkle Root: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transactions.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BB0217-71B8-40D8-997B-5576B21D78A0}"/>
              </a:ext>
            </a:extLst>
          </p:cNvPr>
          <p:cNvGrpSpPr/>
          <p:nvPr/>
        </p:nvGrpSpPr>
        <p:grpSpPr>
          <a:xfrm>
            <a:off x="8477734" y="1006449"/>
            <a:ext cx="3031879" cy="5046761"/>
            <a:chOff x="8800005" y="993749"/>
            <a:chExt cx="3031879" cy="5046761"/>
          </a:xfrm>
        </p:grpSpPr>
        <p:sp>
          <p:nvSpPr>
            <p:cNvPr id="94" name="Google Shape;102;p14">
              <a:extLst>
                <a:ext uri="{FF2B5EF4-FFF2-40B4-BE49-F238E27FC236}">
                  <a16:creationId xmlns:a16="http://schemas.microsoft.com/office/drawing/2014/main" id="{54938F5D-B9D2-444F-A379-95ED9119E6DA}"/>
                </a:ext>
              </a:extLst>
            </p:cNvPr>
            <p:cNvSpPr/>
            <p:nvPr/>
          </p:nvSpPr>
          <p:spPr>
            <a:xfrm>
              <a:off x="8836514" y="1029333"/>
              <a:ext cx="2958861" cy="5011177"/>
            </a:xfrm>
            <a:prstGeom prst="can">
              <a:avLst>
                <a:gd name="adj" fmla="val 19711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Google Shape;103;p14">
              <a:extLst>
                <a:ext uri="{FF2B5EF4-FFF2-40B4-BE49-F238E27FC236}">
                  <a16:creationId xmlns:a16="http://schemas.microsoft.com/office/drawing/2014/main" id="{81CF606E-E7C7-4BFC-9C71-C74DE5BD9642}"/>
                </a:ext>
              </a:extLst>
            </p:cNvPr>
            <p:cNvSpPr txBox="1"/>
            <p:nvPr/>
          </p:nvSpPr>
          <p:spPr>
            <a:xfrm>
              <a:off x="9430394" y="993749"/>
              <a:ext cx="1672991" cy="309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 n</a:t>
              </a:r>
              <a:endPara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Google Shape;104;p14">
              <a:extLst>
                <a:ext uri="{FF2B5EF4-FFF2-40B4-BE49-F238E27FC236}">
                  <a16:creationId xmlns:a16="http://schemas.microsoft.com/office/drawing/2014/main" id="{641155AD-D769-4774-86A3-6FDE74041568}"/>
                </a:ext>
              </a:extLst>
            </p:cNvPr>
            <p:cNvSpPr txBox="1"/>
            <p:nvPr/>
          </p:nvSpPr>
          <p:spPr>
            <a:xfrm>
              <a:off x="9487248" y="1641239"/>
              <a:ext cx="1559284" cy="584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Header</a:t>
              </a:r>
              <a:endParaRPr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Google Shape;105;p14">
              <a:extLst>
                <a:ext uri="{FF2B5EF4-FFF2-40B4-BE49-F238E27FC236}">
                  <a16:creationId xmlns:a16="http://schemas.microsoft.com/office/drawing/2014/main" id="{323FF2BF-40D5-4B8F-BD2E-0987D151DECA}"/>
                </a:ext>
              </a:extLst>
            </p:cNvPr>
            <p:cNvSpPr txBox="1"/>
            <p:nvPr/>
          </p:nvSpPr>
          <p:spPr>
            <a:xfrm>
              <a:off x="9362981" y="2402558"/>
              <a:ext cx="1987670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Timestamp</a:t>
              </a:r>
              <a:endParaRPr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Google Shape;106;p14">
              <a:extLst>
                <a:ext uri="{FF2B5EF4-FFF2-40B4-BE49-F238E27FC236}">
                  <a16:creationId xmlns:a16="http://schemas.microsoft.com/office/drawing/2014/main" id="{D58AB42F-6E64-4566-BF30-0F1A7C505024}"/>
                </a:ext>
              </a:extLst>
            </p:cNvPr>
            <p:cNvSpPr txBox="1"/>
            <p:nvPr/>
          </p:nvSpPr>
          <p:spPr>
            <a:xfrm>
              <a:off x="8800005" y="2996044"/>
              <a:ext cx="2956816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Previous Hash</a:t>
              </a:r>
              <a:endParaRPr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Google Shape;107;p14">
              <a:extLst>
                <a:ext uri="{FF2B5EF4-FFF2-40B4-BE49-F238E27FC236}">
                  <a16:creationId xmlns:a16="http://schemas.microsoft.com/office/drawing/2014/main" id="{61286427-E8C7-4CFE-81A9-9750800C325C}"/>
                </a:ext>
              </a:extLst>
            </p:cNvPr>
            <p:cNvSpPr txBox="1"/>
            <p:nvPr/>
          </p:nvSpPr>
          <p:spPr>
            <a:xfrm>
              <a:off x="8881749" y="3663479"/>
              <a:ext cx="2950135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ctr"/>
              <a:r>
                <a:rPr lang="e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  <a:endParaRPr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0" name="Google Shape;109;p14">
              <a:extLst>
                <a:ext uri="{FF2B5EF4-FFF2-40B4-BE49-F238E27FC236}">
                  <a16:creationId xmlns:a16="http://schemas.microsoft.com/office/drawing/2014/main" id="{4ED0E610-F7AD-4379-87EE-5B0371396850}"/>
                </a:ext>
              </a:extLst>
            </p:cNvPr>
            <p:cNvCxnSpPr/>
            <p:nvPr/>
          </p:nvCxnSpPr>
          <p:spPr>
            <a:xfrm rot="10800000" flipH="1">
              <a:off x="8841254" y="2315336"/>
              <a:ext cx="2956816" cy="35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10;p14">
              <a:extLst>
                <a:ext uri="{FF2B5EF4-FFF2-40B4-BE49-F238E27FC236}">
                  <a16:creationId xmlns:a16="http://schemas.microsoft.com/office/drawing/2014/main" id="{016D51C5-4D90-4E0A-B874-33700746D335}"/>
                </a:ext>
              </a:extLst>
            </p:cNvPr>
            <p:cNvCxnSpPr>
              <a:cxnSpLocks/>
            </p:cNvCxnSpPr>
            <p:nvPr/>
          </p:nvCxnSpPr>
          <p:spPr>
            <a:xfrm>
              <a:off x="8836514" y="2990013"/>
              <a:ext cx="2958861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11;p14">
              <a:extLst>
                <a:ext uri="{FF2B5EF4-FFF2-40B4-BE49-F238E27FC236}">
                  <a16:creationId xmlns:a16="http://schemas.microsoft.com/office/drawing/2014/main" id="{2DC05DBB-DA2D-4627-8BB9-1E7C4746EC38}"/>
                </a:ext>
              </a:extLst>
            </p:cNvPr>
            <p:cNvCxnSpPr/>
            <p:nvPr/>
          </p:nvCxnSpPr>
          <p:spPr>
            <a:xfrm rot="10800000" flipH="1">
              <a:off x="8837534" y="3610014"/>
              <a:ext cx="2956816" cy="35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12;p14">
              <a:extLst>
                <a:ext uri="{FF2B5EF4-FFF2-40B4-BE49-F238E27FC236}">
                  <a16:creationId xmlns:a16="http://schemas.microsoft.com/office/drawing/2014/main" id="{DFD3868E-FBC8-4356-B6A4-423C5522AB76}"/>
                </a:ext>
              </a:extLst>
            </p:cNvPr>
            <p:cNvCxnSpPr/>
            <p:nvPr/>
          </p:nvCxnSpPr>
          <p:spPr>
            <a:xfrm>
              <a:off x="8841254" y="4215255"/>
              <a:ext cx="2958861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" name="Google Shape;112;p14">
              <a:extLst>
                <a:ext uri="{FF2B5EF4-FFF2-40B4-BE49-F238E27FC236}">
                  <a16:creationId xmlns:a16="http://schemas.microsoft.com/office/drawing/2014/main" id="{0D26579D-7778-44B4-ABFB-C9A6D9010E3E}"/>
                </a:ext>
              </a:extLst>
            </p:cNvPr>
            <p:cNvCxnSpPr/>
            <p:nvPr/>
          </p:nvCxnSpPr>
          <p:spPr>
            <a:xfrm>
              <a:off x="8841254" y="4824793"/>
              <a:ext cx="2958861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112;p14">
              <a:extLst>
                <a:ext uri="{FF2B5EF4-FFF2-40B4-BE49-F238E27FC236}">
                  <a16:creationId xmlns:a16="http://schemas.microsoft.com/office/drawing/2014/main" id="{DEDBF538-825C-4A3A-8E44-9F69C5032FA6}"/>
                </a:ext>
              </a:extLst>
            </p:cNvPr>
            <p:cNvCxnSpPr/>
            <p:nvPr/>
          </p:nvCxnSpPr>
          <p:spPr>
            <a:xfrm>
              <a:off x="8838559" y="5402571"/>
              <a:ext cx="2958861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" name="Google Shape;107;p14">
              <a:extLst>
                <a:ext uri="{FF2B5EF4-FFF2-40B4-BE49-F238E27FC236}">
                  <a16:creationId xmlns:a16="http://schemas.microsoft.com/office/drawing/2014/main" id="{0FBDF0E6-E171-4EF8-BEA6-7C3D803666E5}"/>
                </a:ext>
              </a:extLst>
            </p:cNvPr>
            <p:cNvSpPr txBox="1"/>
            <p:nvPr/>
          </p:nvSpPr>
          <p:spPr>
            <a:xfrm>
              <a:off x="8844215" y="4258429"/>
              <a:ext cx="2950135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Hash Calculated</a:t>
              </a:r>
              <a:endParaRPr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Google Shape;107;p14">
              <a:extLst>
                <a:ext uri="{FF2B5EF4-FFF2-40B4-BE49-F238E27FC236}">
                  <a16:creationId xmlns:a16="http://schemas.microsoft.com/office/drawing/2014/main" id="{D4AC800A-6FB5-43D4-8A0B-5218C461AD76}"/>
                </a:ext>
              </a:extLst>
            </p:cNvPr>
            <p:cNvSpPr txBox="1"/>
            <p:nvPr/>
          </p:nvSpPr>
          <p:spPr>
            <a:xfrm>
              <a:off x="8852866" y="4829338"/>
              <a:ext cx="2926152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Nonce</a:t>
              </a:r>
              <a:endParaRPr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Google Shape;107;p14">
              <a:extLst>
                <a:ext uri="{FF2B5EF4-FFF2-40B4-BE49-F238E27FC236}">
                  <a16:creationId xmlns:a16="http://schemas.microsoft.com/office/drawing/2014/main" id="{53446EE5-1430-477B-AEA6-FB1F4227EE5F}"/>
                </a:ext>
              </a:extLst>
            </p:cNvPr>
            <p:cNvSpPr txBox="1"/>
            <p:nvPr/>
          </p:nvSpPr>
          <p:spPr>
            <a:xfrm>
              <a:off x="8868989" y="5448330"/>
              <a:ext cx="2950133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Merkel Root</a:t>
              </a:r>
              <a:endParaRPr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55D887C2-065F-4757-ABF8-BBB23D861B15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29AEE71-2A79-4317-86DB-E1A4DC048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CED9F44-DA7A-4A25-9F36-37EF96E61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174844-7D76-A8E3-3B5C-9437EAAC492A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B01C0-4F16-32E7-0393-E3E93B7D044D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3202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E9C093-D791-442A-8D57-CFCAA5727182}"/>
              </a:ext>
            </a:extLst>
          </p:cNvPr>
          <p:cNvSpPr txBox="1"/>
          <p:nvPr/>
        </p:nvSpPr>
        <p:spPr>
          <a:xfrm>
            <a:off x="696191" y="303052"/>
            <a:ext cx="10799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EE0A4-BB42-4799-AA5C-0DC248891A2E}"/>
              </a:ext>
            </a:extLst>
          </p:cNvPr>
          <p:cNvSpPr txBox="1"/>
          <p:nvPr/>
        </p:nvSpPr>
        <p:spPr>
          <a:xfrm>
            <a:off x="1210001" y="1574800"/>
            <a:ext cx="977199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spcBef>
                <a:spcPts val="2400"/>
              </a:spcBef>
              <a:buFont typeface="+mj-lt"/>
              <a:buAutoNum type="romanL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implement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real‑time liveness detection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fingerprint and iris enrollment that reliably blocks spoofing without degrading user experience?</a:t>
            </a:r>
          </a:p>
          <a:p>
            <a:pPr marL="514350" indent="-514350" algn="just">
              <a:spcBef>
                <a:spcPts val="2400"/>
              </a:spcBef>
              <a:buFont typeface="+mj-lt"/>
              <a:buAutoNum type="romanL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protocol design seamlessly fuses on‑the‑fly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verification with ring‑signature proofs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anonymous, unforgeable vote casting?</a:t>
            </a:r>
          </a:p>
          <a:p>
            <a:pPr marL="514350" indent="-514350" algn="just">
              <a:spcBef>
                <a:spcPts val="2400"/>
              </a:spcBef>
              <a:buFont typeface="+mj-lt"/>
              <a:buAutoNum type="romanL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extend and formally verify blockchain smart contracts to audit hashed biometric templates on‑chain while preserving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confidentiality and integrity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514350" indent="-514350" algn="just">
              <a:spcBef>
                <a:spcPts val="2400"/>
              </a:spcBef>
              <a:buFont typeface="+mj-lt"/>
              <a:buAutoNum type="romanL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derive and optimize closed‑form time complexity bounds for each phase of the biometric‑blockchain workflow to guarantee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real‑time scalability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F0FE07-2B2F-4AE4-AA72-5B580433AD1B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F11CD6-43C8-4692-9444-A5E221A7E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CD3C43-C0D5-4984-8959-DB789486C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EA696B-3903-7B23-6CEB-7D1E87D1FB1D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5A3ED-B2C7-E350-3EBB-893B8FEA6E3B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4100203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E9C093-D791-442A-8D57-CFCAA5727182}"/>
              </a:ext>
            </a:extLst>
          </p:cNvPr>
          <p:cNvSpPr txBox="1"/>
          <p:nvPr/>
        </p:nvSpPr>
        <p:spPr>
          <a:xfrm>
            <a:off x="645349" y="334548"/>
            <a:ext cx="10799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811D6-6E15-437B-8E38-46F63CDF3166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A5E6FA7-010C-4E83-9BC3-5215D1F32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BE6578-2EC0-402E-AB97-3FC943448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7084AE-A1F2-B5BE-F483-CF8F98750D91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2A325-69F3-3066-DF0B-F6DA475049E8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34548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2933A33-B072-4367-BF13-04035A3E7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621491"/>
              </p:ext>
            </p:extLst>
          </p:nvPr>
        </p:nvGraphicFramePr>
        <p:xfrm>
          <a:off x="645349" y="1042434"/>
          <a:ext cx="10784652" cy="1717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177351">
                  <a:extLst>
                    <a:ext uri="{9D8B030D-6E8A-4147-A177-3AD203B41FA5}">
                      <a16:colId xmlns:a16="http://schemas.microsoft.com/office/drawing/2014/main" val="451834685"/>
                    </a:ext>
                  </a:extLst>
                </a:gridCol>
                <a:gridCol w="3873501">
                  <a:extLst>
                    <a:ext uri="{9D8B030D-6E8A-4147-A177-3AD203B41FA5}">
                      <a16:colId xmlns:a16="http://schemas.microsoft.com/office/drawing/2014/main" val="1488834917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3610111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Name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397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Courier New" panose="02070309020205020404" pitchFamily="49" charset="0"/>
                        <a:buChar char="o"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0">
                        <a:buFont typeface="Courier New" panose="02070309020205020404" pitchFamily="49" charset="0"/>
                        <a:buChar char="o"/>
                      </a:pPr>
                      <a:endParaRPr lang="en-US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020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342900" indent="-342900" rtl="0">
                        <a:buFont typeface="Courier New" panose="02070309020205020404" pitchFamily="49" charset="0"/>
                        <a:buChar char="o"/>
                      </a:pPr>
                      <a:endParaRPr lang="en-US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342900" indent="-342900" rtl="0">
                        <a:buFont typeface="Courier New" panose="02070309020205020404" pitchFamily="49" charset="0"/>
                        <a:buChar char="o"/>
                      </a:pPr>
                      <a:endParaRPr lang="en-US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341656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342900" indent="-342900"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342900" indent="-342900"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299973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D4EA9A4-3592-4B60-9FE4-1580878719D1}"/>
              </a:ext>
            </a:extLst>
          </p:cNvPr>
          <p:cNvSpPr txBox="1"/>
          <p:nvPr/>
        </p:nvSpPr>
        <p:spPr>
          <a:xfrm>
            <a:off x="645349" y="334548"/>
            <a:ext cx="10799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DADC57-A99B-4B4A-B231-3D48B58F78FD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7059BE4-B575-4D3B-89A2-9C357AF6B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D27093-5ADA-40A4-A859-F20D9E0F8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CFE248-F671-9629-F28C-5708425696A8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0BF6A-325B-01E5-5AC6-7EEBD9CC90F6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3112560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39504" y="1209895"/>
            <a:ext cx="10112991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Single‑Factor Proofing Risk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Relies solely on DCA‑issued credentials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Absence of additional identity checks leaves the system vulnerable to impersonation.</a:t>
            </a:r>
            <a:endParaRPr lang="en-US" sz="2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Biometric Liveness Integration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Fingerprint and iris modalities verify a voter’s physical presence and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Real‑time liveness detection.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Double‑Layer Authentication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Something You 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Something You Have.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Scalability Through Complexity Analysis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Establish closed‑form time‑complexity for enrollment, verification, hashing, and on‑chain submission.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60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D4A26D-E568-49E9-BAD0-777041013127}"/>
              </a:ext>
            </a:extLst>
          </p:cNvPr>
          <p:cNvSpPr txBox="1"/>
          <p:nvPr/>
        </p:nvSpPr>
        <p:spPr>
          <a:xfrm>
            <a:off x="2522622" y="303052"/>
            <a:ext cx="7101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Motivation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B04DD-A659-4838-A086-AA2FB9828C63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5FF9B0-E168-40DA-8241-9DDD57E0B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690EB4-6B57-4B27-90A4-0110C1815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7E9022-FAD7-EF80-88B8-0B429FC9567D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8FCBF-E2FA-413B-9B73-0ECDFCA73CF9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2918910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4950" y="1521766"/>
            <a:ext cx="80486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liveness‑checked enrollment for fingerprint and iris biometrics.</a:t>
            </a:r>
          </a:p>
          <a:p>
            <a:pPr marL="342900" indent="-342900"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a double‑layer cast‑time protocol combining biometric and ring‑signature proofs.</a:t>
            </a:r>
          </a:p>
          <a:p>
            <a:pPr marL="342900" indent="-342900"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and formally verify SC (smart contracts) for secure on‑chain storage and audit of biometric hashes.</a:t>
            </a:r>
          </a:p>
          <a:p>
            <a:pPr marL="342900" indent="-342900"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closed‑form time complexity bounds for each phase and optimize bottlenecks.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93FA94-237E-4C8E-834C-AC56912ED718}"/>
              </a:ext>
            </a:extLst>
          </p:cNvPr>
          <p:cNvSpPr txBox="1"/>
          <p:nvPr/>
        </p:nvSpPr>
        <p:spPr>
          <a:xfrm>
            <a:off x="2522622" y="303052"/>
            <a:ext cx="7101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Objective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FE7C9-8FAD-45FA-B41B-EEA86F51A66F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B236CEA-1C52-4713-91B2-64B0E4DC0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88C7E1-5AEB-46F0-9BC0-39C1E696D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7EAAD2-C4B0-4FA0-EAD6-9C8B4EEC3B96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57FE91-A959-B18F-1AD2-AC5C181727C5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3328192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75E343E-1C7C-4733-9F1F-E6A63851B2E8}"/>
              </a:ext>
            </a:extLst>
          </p:cNvPr>
          <p:cNvSpPr txBox="1"/>
          <p:nvPr/>
        </p:nvSpPr>
        <p:spPr>
          <a:xfrm>
            <a:off x="2522622" y="303052"/>
            <a:ext cx="7101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C72C3-CF32-4A1C-9C47-38DCBF72DEBD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83B8C02-D477-48A5-A2D7-5D525B495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02854D-B11F-4982-BA17-A925A5E81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10A9A8-AAD7-9061-7F13-4EC9C1DAB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948" y="1236206"/>
            <a:ext cx="7011067" cy="48106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08C0F9-5E95-1EBE-199D-D3B388AEABB1}"/>
              </a:ext>
            </a:extLst>
          </p:cNvPr>
          <p:cNvSpPr txBox="1"/>
          <p:nvPr/>
        </p:nvSpPr>
        <p:spPr>
          <a:xfrm>
            <a:off x="365760" y="1236206"/>
            <a:ext cx="40971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shows the three operational phases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casting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ballot tallying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highlighting interactions between physical sensors, on‑chain stores, smart contracts, and off‑chain tally services.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23BBE-AA94-267B-AD13-65FB1767FC7E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C5EECE-BB01-2172-4A08-9C6D4591B85A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5F4C8-F7C6-1C8E-21AB-612BE3A4FC27}"/>
              </a:ext>
            </a:extLst>
          </p:cNvPr>
          <p:cNvSpPr txBox="1"/>
          <p:nvPr/>
        </p:nvSpPr>
        <p:spPr>
          <a:xfrm>
            <a:off x="5701085" y="6186115"/>
            <a:ext cx="3037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Proposed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3604241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CC98420-4DDF-4AE5-B8E1-5C9976D03901}"/>
              </a:ext>
            </a:extLst>
          </p:cNvPr>
          <p:cNvSpPr txBox="1"/>
          <p:nvPr/>
        </p:nvSpPr>
        <p:spPr>
          <a:xfrm>
            <a:off x="2522622" y="303052"/>
            <a:ext cx="7101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B809F-A386-40D6-9663-70BBFCA2B24F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C73D0D1-62FB-4098-8AF0-D4641A8DC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6F5337-A1E2-4255-9BD7-7DC7D83A7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7B45DD-5D3C-8520-7DF1-E97AD02DF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68" y="1947606"/>
            <a:ext cx="10909190" cy="29627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15AA0D-660D-37E0-D3FE-F02BD1E774B9}"/>
              </a:ext>
            </a:extLst>
          </p:cNvPr>
          <p:cNvSpPr txBox="1"/>
          <p:nvPr/>
        </p:nvSpPr>
        <p:spPr>
          <a:xfrm>
            <a:off x="951258" y="5155478"/>
            <a:ext cx="9838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DFD clarifies data storage elements and process flows, ensuring each artifact (hash, signature, shares) is accounted for in governance and auditing.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9E8A10-80E1-645C-280E-E896825C743C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53B148-AD98-9AEA-A7E3-E9204F331C4E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F4B40A-DA97-371E-F8F7-57C40653BF6C}"/>
              </a:ext>
            </a:extLst>
          </p:cNvPr>
          <p:cNvSpPr txBox="1"/>
          <p:nvPr/>
        </p:nvSpPr>
        <p:spPr>
          <a:xfrm>
            <a:off x="4651513" y="4724371"/>
            <a:ext cx="3037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Data Flow Diagram</a:t>
            </a:r>
          </a:p>
        </p:txBody>
      </p:sp>
    </p:spTree>
    <p:extLst>
      <p:ext uri="{BB962C8B-B14F-4D97-AF65-F5344CB8AC3E}">
        <p14:creationId xmlns:p14="http://schemas.microsoft.com/office/powerpoint/2010/main" val="3537913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2961F35-5071-4BA8-BBB2-94F9B4C10E8D}"/>
              </a:ext>
            </a:extLst>
          </p:cNvPr>
          <p:cNvSpPr txBox="1"/>
          <p:nvPr/>
        </p:nvSpPr>
        <p:spPr>
          <a:xfrm>
            <a:off x="2522622" y="303052"/>
            <a:ext cx="7101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Methodology </a:t>
            </a:r>
            <a:r>
              <a:rPr lang="en-US" sz="4000" b="1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10988-58E6-4145-B1A0-8976EB7F1D17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1B261F3-E8FC-40AC-A87A-6C51B68A3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D6E75A-D950-42FF-97D7-3B2F39DF4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EDDAC87-34D0-2128-9615-EB0F47C88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04" y="1063837"/>
            <a:ext cx="10480350" cy="5506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65EDA2-BB3B-B29F-95DE-D7635FF0D1AA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2B2888-0F64-9924-CA84-EB78F877D4C6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E0E95-E611-7FDF-7D4C-A95EF4C48240}"/>
              </a:ext>
            </a:extLst>
          </p:cNvPr>
          <p:cNvSpPr txBox="1"/>
          <p:nvPr/>
        </p:nvSpPr>
        <p:spPr>
          <a:xfrm>
            <a:off x="878646" y="6255605"/>
            <a:ext cx="3037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Methodology</a:t>
            </a:r>
          </a:p>
        </p:txBody>
      </p:sp>
    </p:spTree>
    <p:extLst>
      <p:ext uri="{BB962C8B-B14F-4D97-AF65-F5344CB8AC3E}">
        <p14:creationId xmlns:p14="http://schemas.microsoft.com/office/powerpoint/2010/main" val="383857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E9C093-D791-442A-8D57-CFCAA5727182}"/>
              </a:ext>
            </a:extLst>
          </p:cNvPr>
          <p:cNvSpPr txBox="1"/>
          <p:nvPr/>
        </p:nvSpPr>
        <p:spPr>
          <a:xfrm>
            <a:off x="2545442" y="338196"/>
            <a:ext cx="7101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 Chart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CB872D-3BAE-4F73-B9A6-B3706228E538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DA8BE6-DF7D-44BD-AC67-9BD3D67A0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733804-9324-4831-9C38-4A3F1DB12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2E0687-A878-2620-8587-22B1D3D1096E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24752-16BC-145D-5BAD-A11AAF899995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3255774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E9C093-D791-442A-8D57-CFCAA5727182}"/>
              </a:ext>
            </a:extLst>
          </p:cNvPr>
          <p:cNvSpPr txBox="1"/>
          <p:nvPr/>
        </p:nvSpPr>
        <p:spPr>
          <a:xfrm>
            <a:off x="2545442" y="338196"/>
            <a:ext cx="7101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CB872D-3BAE-4F73-B9A6-B3706228E538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DA8BE6-DF7D-44BD-AC67-9BD3D67A0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733804-9324-4831-9C38-4A3F1DB12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28900F6-E6A3-426B-AA48-E0CDE1024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118326"/>
              </p:ext>
            </p:extLst>
          </p:nvPr>
        </p:nvGraphicFramePr>
        <p:xfrm>
          <a:off x="733424" y="1256124"/>
          <a:ext cx="10725150" cy="465890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682251417"/>
                    </a:ext>
                  </a:extLst>
                </a:gridCol>
                <a:gridCol w="1790701">
                  <a:extLst>
                    <a:ext uri="{9D8B030D-6E8A-4147-A177-3AD203B41FA5}">
                      <a16:colId xmlns:a16="http://schemas.microsoft.com/office/drawing/2014/main" val="3819717806"/>
                    </a:ext>
                  </a:extLst>
                </a:gridCol>
                <a:gridCol w="2838449">
                  <a:extLst>
                    <a:ext uri="{9D8B030D-6E8A-4147-A177-3AD203B41FA5}">
                      <a16:colId xmlns:a16="http://schemas.microsoft.com/office/drawing/2014/main" val="4215837364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75684011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4273453156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364493612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772641601"/>
                    </a:ext>
                  </a:extLst>
                </a:gridCol>
              </a:tblGrid>
              <a:tr h="59849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>
                    <a:solidFill>
                      <a:srgbClr val="382D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>
                    <a:solidFill>
                      <a:srgbClr val="382D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>
                    <a:solidFill>
                      <a:srgbClr val="382D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Unit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>
                    <a:solidFill>
                      <a:srgbClr val="382D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 Unit Cost (Tk)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>
                    <a:solidFill>
                      <a:srgbClr val="382D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 (Month)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>
                    <a:solidFill>
                      <a:srgbClr val="382D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Cost (BDT-Tk)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>
                    <a:solidFill>
                      <a:srgbClr val="382D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727843"/>
                  </a:ext>
                </a:extLst>
              </a:tr>
              <a:tr h="47901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Travel &amp; Testing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436059631"/>
                  </a:ext>
                </a:extLst>
              </a:tr>
              <a:tr h="65427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Setup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Cloud-based blockchain nodes (AWS / Azure)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164802833"/>
                  </a:ext>
                </a:extLst>
              </a:tr>
              <a:tr h="42999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Laptop &amp; IoT Devices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15945443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Conference / Journal Fees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41136913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Tools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 Tools (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Colab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 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773785990"/>
                  </a:ext>
                </a:extLst>
              </a:tr>
              <a:tr h="59849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Hosting &amp; Domain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Hosting for certificate verification portal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00580036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Miscellaneous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Expenses (Print)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159023590"/>
                  </a:ext>
                </a:extLst>
              </a:tr>
              <a:tr h="447675">
                <a:tc gridSpan="6">
                  <a:txBody>
                    <a:bodyPr/>
                    <a:lstStyle/>
                    <a:p>
                      <a:pPr algn="ctr" rtl="0" fontAlgn="b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28575" marR="28575" marT="19050" marB="19050" anchor="ctr"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33523024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C96FC8-DA23-4A9A-F469-B12901303228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C8A96-6E0B-E045-C073-4D624C327203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2539541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E9C093-D791-442A-8D57-CFCAA5727182}"/>
              </a:ext>
            </a:extLst>
          </p:cNvPr>
          <p:cNvSpPr txBox="1"/>
          <p:nvPr/>
        </p:nvSpPr>
        <p:spPr>
          <a:xfrm>
            <a:off x="2545442" y="338196"/>
            <a:ext cx="7101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C20FB-8BFE-45B7-8045-9BED5114A79A}"/>
              </a:ext>
            </a:extLst>
          </p:cNvPr>
          <p:cNvSpPr txBox="1"/>
          <p:nvPr/>
        </p:nvSpPr>
        <p:spPr>
          <a:xfrm>
            <a:off x="1921232" y="1379329"/>
            <a:ext cx="7968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thesis contributions and finds that live biometrics and double-layer verification can be implemented in blockchain e-voting with tolerable overhead, and recommends investigating zero-knowledge biometric proofs, geo-distributed tallies via hierarchical secret sharing, and real-world pilot studies with human subjects.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CFB5759-0A8D-4DCA-A3DC-9E26FA977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AD20C6-C404-4F18-9395-CBC07B169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7CFA35-DC1E-45AD-93EE-1F0AA07BA827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E04E95-551A-3B21-221A-F0066C405186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3B8C8E-C473-5AB5-F426-0B48DFF9E3CF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1836543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3">
            <a:extLst>
              <a:ext uri="{FF2B5EF4-FFF2-40B4-BE49-F238E27FC236}">
                <a16:creationId xmlns:a16="http://schemas.microsoft.com/office/drawing/2014/main" id="{01FC01DD-CBEF-4A00-9873-F82FB037EFB1}"/>
              </a:ext>
            </a:extLst>
          </p:cNvPr>
          <p:cNvSpPr txBox="1">
            <a:spLocks/>
          </p:cNvSpPr>
          <p:nvPr/>
        </p:nvSpPr>
        <p:spPr>
          <a:xfrm>
            <a:off x="1891028" y="2220021"/>
            <a:ext cx="8364303" cy="22884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B756AE-C3E8-4BB7-A638-7DF981AB9D52}"/>
              </a:ext>
            </a:extLst>
          </p:cNvPr>
          <p:cNvSpPr/>
          <p:nvPr/>
        </p:nvSpPr>
        <p:spPr>
          <a:xfrm>
            <a:off x="1267632" y="1219296"/>
            <a:ext cx="9656736" cy="3087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240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ABC(2022)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DOI: </a:t>
            </a:r>
            <a:r>
              <a:rPr lang="en-US" sz="20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10.1109/ACCESS.2023.3289598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240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</a:p>
          <a:p>
            <a:pPr>
              <a:lnSpc>
                <a:spcPct val="107000"/>
              </a:lnSpc>
              <a:spcAft>
                <a:spcPts val="240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>
              <a:spcAft>
                <a:spcPts val="240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</a:p>
          <a:p>
            <a:pPr fontAlgn="t">
              <a:spcAft>
                <a:spcPts val="240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en-US" sz="20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D1122-F91B-448F-ACEC-A8FCD30FC8B7}"/>
              </a:ext>
            </a:extLst>
          </p:cNvPr>
          <p:cNvSpPr txBox="1"/>
          <p:nvPr/>
        </p:nvSpPr>
        <p:spPr>
          <a:xfrm>
            <a:off x="2522622" y="303052"/>
            <a:ext cx="7101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87D49F-6A0D-4E3F-B07C-E6436F552EB7}"/>
              </a:ext>
            </a:extLst>
          </p:cNvPr>
          <p:cNvSpPr txBox="1"/>
          <p:nvPr/>
        </p:nvSpPr>
        <p:spPr>
          <a:xfrm>
            <a:off x="11474015" y="6046895"/>
            <a:ext cx="598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46912DE-EFDB-4A19-8059-4BB576602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68" y="303052"/>
            <a:ext cx="696190" cy="6763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CBDCE7-BFEA-4DA8-83E1-5F0CD6028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42" y="352608"/>
            <a:ext cx="696190" cy="6763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4A9C1F-244C-74E0-046F-1EC414D8F418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0EBAB-0722-12F3-9175-98101CEC5A11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2455169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A56BE2D-5D25-4528-8D6B-56B54E501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"/>
            <a:ext cx="696190" cy="676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066677-6057-47D3-8601-3D5081A5C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5809" y="-23447"/>
            <a:ext cx="696190" cy="6961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3E6C091-7503-4CE8-8AE5-66B73EADA075}"/>
              </a:ext>
            </a:extLst>
          </p:cNvPr>
          <p:cNvSpPr txBox="1">
            <a:spLocks/>
          </p:cNvSpPr>
          <p:nvPr/>
        </p:nvSpPr>
        <p:spPr>
          <a:xfrm>
            <a:off x="2489022" y="2766218"/>
            <a:ext cx="59948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800" b="1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600" spc="600" dirty="0">
                <a:solidFill>
                  <a:schemeClr val="tx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Thank</a:t>
            </a:r>
            <a:r>
              <a:rPr lang="en-GB" sz="5600" spc="600" dirty="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You</a:t>
            </a:r>
            <a:endParaRPr lang="en-US" sz="5600" spc="600" dirty="0">
              <a:solidFill>
                <a:schemeClr val="bg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B89292-2F7E-4040-9F1E-40BC515BA133}"/>
              </a:ext>
            </a:extLst>
          </p:cNvPr>
          <p:cNvSpPr txBox="1">
            <a:spLocks/>
          </p:cNvSpPr>
          <p:nvPr/>
        </p:nvSpPr>
        <p:spPr>
          <a:xfrm>
            <a:off x="2844260" y="3250828"/>
            <a:ext cx="5994895" cy="497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b="1" spc="3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D44EC-7F8B-0DFB-9036-9DE7BB7C7C79}"/>
              </a:ext>
            </a:extLst>
          </p:cNvPr>
          <p:cNvSpPr txBox="1"/>
          <p:nvPr/>
        </p:nvSpPr>
        <p:spPr>
          <a:xfrm>
            <a:off x="3458817" y="6570115"/>
            <a:ext cx="5923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Federal Blockchain in E-Voting: A Revolutionary Approach to Transparent and Secure Elections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B45FD-4A25-474C-CE6E-0095E6CC7941}"/>
              </a:ext>
            </a:extLst>
          </p:cNvPr>
          <p:cNvSpPr txBox="1"/>
          <p:nvPr/>
        </p:nvSpPr>
        <p:spPr>
          <a:xfrm>
            <a:off x="0" y="6447004"/>
            <a:ext cx="13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18-04-25</a:t>
            </a:r>
          </a:p>
        </p:txBody>
      </p:sp>
    </p:spTree>
    <p:extLst>
      <p:ext uri="{BB962C8B-B14F-4D97-AF65-F5344CB8AC3E}">
        <p14:creationId xmlns:p14="http://schemas.microsoft.com/office/powerpoint/2010/main" val="301599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901"/>
                            </p:stCondLst>
                            <p:childTnLst>
                              <p:par>
                                <p:cTn id="17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9" grpId="2"/>
      <p:bldP spid="10" grpId="0"/>
      <p:bldP spid="1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F1D9204-E687-4D08-AD4C-EC7D2EA0FE3E}"/>
              </a:ext>
            </a:extLst>
          </p:cNvPr>
          <p:cNvSpPr txBox="1"/>
          <p:nvPr/>
        </p:nvSpPr>
        <p:spPr>
          <a:xfrm>
            <a:off x="399143" y="2496787"/>
            <a:ext cx="11393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>
                <a:solidFill>
                  <a:schemeClr val="bg1"/>
                </a:solidFill>
                <a:latin typeface="Comic Sans MS" panose="030F0702030302020204" pitchFamily="66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 SemiBold Condensed" panose="020B0502040204020203" pitchFamily="34" charset="0"/>
              </a:rPr>
              <a:t>Any </a:t>
            </a:r>
            <a:r>
              <a:rPr kumimoji="0" lang="en-US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Bahnschrift SemiBold Condensed" panose="020B0502040204020203" pitchFamily="34" charset="0"/>
              </a:rPr>
              <a:t>Questions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anose="020506040505050202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2405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Custom 51">
      <a:dk1>
        <a:srgbClr val="010101"/>
      </a:dk1>
      <a:lt1>
        <a:srgbClr val="FFFFFF"/>
      </a:lt1>
      <a:dk2>
        <a:srgbClr val="F9987F"/>
      </a:dk2>
      <a:lt2>
        <a:srgbClr val="E6E3E5"/>
      </a:lt2>
      <a:accent1>
        <a:srgbClr val="E4E1DB"/>
      </a:accent1>
      <a:accent2>
        <a:srgbClr val="C08D80"/>
      </a:accent2>
      <a:accent3>
        <a:srgbClr val="D3B9AA"/>
      </a:accent3>
      <a:accent4>
        <a:srgbClr val="C17250"/>
      </a:accent4>
      <a:accent5>
        <a:srgbClr val="6F4838"/>
      </a:accent5>
      <a:accent6>
        <a:srgbClr val="9F5700"/>
      </a:accent6>
      <a:hlink>
        <a:srgbClr val="9F5700"/>
      </a:hlink>
      <a:folHlink>
        <a:srgbClr val="BF8C7F"/>
      </a:folHlink>
    </a:clrScheme>
    <a:fontScheme name="Custom 42">
      <a:majorFont>
        <a:latin typeface="Bodoni MT Condense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3CA24C-CD06-4FED-9400-8722D47B2D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8DECC2-4004-45B0-9152-E844B904755D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D7B06D1-7850-46BB-A9CE-FFFBBA27167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TM00089993</Template>
  <TotalTime>3999</TotalTime>
  <Words>1033</Words>
  <Application>Microsoft Office PowerPoint</Application>
  <PresentationFormat>Widescreen</PresentationFormat>
  <Paragraphs>175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Avenir Next LT Pro</vt:lpstr>
      <vt:lpstr>Bahnschrift SemiBold Condensed</vt:lpstr>
      <vt:lpstr>Bodoni MT Condensed</vt:lpstr>
      <vt:lpstr>Bookman Old Style</vt:lpstr>
      <vt:lpstr>Calibri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Blockchain-based AI-enabled Cybersecurity Framework for IoT Networks</dc:title>
  <dc:creator>HP</dc:creator>
  <cp:lastModifiedBy>Shourav Ahmed Nirob</cp:lastModifiedBy>
  <cp:revision>417</cp:revision>
  <dcterms:created xsi:type="dcterms:W3CDTF">2024-11-16T18:35:46Z</dcterms:created>
  <dcterms:modified xsi:type="dcterms:W3CDTF">2025-04-18T16:48:47Z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