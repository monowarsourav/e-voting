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24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8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5.xml"/>
  <Override ContentType="application/vnd.openxmlformats-officedocument.presentationml.slideMaster+xml" PartName="/ppt/slideMasters/slideMaster23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21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19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7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22.xml"/>
  <Override ContentType="application/vnd.openxmlformats-officedocument.presentationml.slideMaster+xml" PartName="/ppt/slideMasters/slideMaster16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20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0.xml"/>
  <Override ContentType="application/vnd.openxmlformats-officedocument.theme+xml" PartName="/ppt/theme/theme17.xml"/>
  <Override ContentType="application/vnd.openxmlformats-officedocument.theme+xml" PartName="/ppt/theme/theme11.xml"/>
  <Override ContentType="application/vnd.openxmlformats-officedocument.theme+xml" PartName="/ppt/theme/theme24.xml"/>
  <Override ContentType="application/vnd.openxmlformats-officedocument.theme+xml" PartName="/ppt/theme/theme5.xml"/>
  <Override ContentType="application/vnd.openxmlformats-officedocument.theme+xml" PartName="/ppt/theme/theme7.xml"/>
  <Override ContentType="application/vnd.openxmlformats-officedocument.theme+xml" PartName="/ppt/theme/theme4.xml"/>
  <Override ContentType="application/vnd.openxmlformats-officedocument.theme+xml" PartName="/ppt/theme/theme18.xml"/>
  <Override ContentType="application/vnd.openxmlformats-officedocument.theme+xml" PartName="/ppt/theme/theme23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4.xml"/>
  <Override ContentType="application/vnd.openxmlformats-officedocument.theme+xml" PartName="/ppt/theme/theme19.xml"/>
  <Override ContentType="application/vnd.openxmlformats-officedocument.theme+xml" PartName="/ppt/theme/theme22.xml"/>
  <Override ContentType="application/vnd.openxmlformats-officedocument.theme+xml" PartName="/ppt/theme/theme3.xml"/>
  <Override ContentType="application/vnd.openxmlformats-officedocument.theme+xml" PartName="/ppt/theme/theme1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21.xml"/>
  <Override ContentType="application/vnd.openxmlformats-officedocument.theme+xml" PartName="/ppt/theme/theme2.xml"/>
  <Override ContentType="application/vnd.openxmlformats-officedocument.theme+xml" PartName="/ppt/theme/theme16.xml"/>
  <Override ContentType="application/vnd.openxmlformats-officedocument.theme+xml" PartName="/ppt/theme/theme25.xml"/>
  <Override ContentType="application/vnd.openxmlformats-officedocument.theme+xml" PartName="/ppt/theme/theme1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  <p:sldMasterId id="2147483654" r:id="rId7"/>
    <p:sldMasterId id="2147483656" r:id="rId8"/>
    <p:sldMasterId id="2147483658" r:id="rId9"/>
    <p:sldMasterId id="2147483660" r:id="rId10"/>
    <p:sldMasterId id="2147483662" r:id="rId11"/>
    <p:sldMasterId id="2147483664" r:id="rId12"/>
    <p:sldMasterId id="2147483666" r:id="rId13"/>
    <p:sldMasterId id="2147483668" r:id="rId14"/>
    <p:sldMasterId id="2147483670" r:id="rId15"/>
    <p:sldMasterId id="2147483672" r:id="rId16"/>
    <p:sldMasterId id="2147483674" r:id="rId17"/>
    <p:sldMasterId id="2147483676" r:id="rId18"/>
    <p:sldMasterId id="2147483678" r:id="rId19"/>
    <p:sldMasterId id="2147483680" r:id="rId20"/>
    <p:sldMasterId id="2147483682" r:id="rId21"/>
    <p:sldMasterId id="2147483684" r:id="rId22"/>
    <p:sldMasterId id="2147483686" r:id="rId23"/>
    <p:sldMasterId id="2147483688" r:id="rId24"/>
    <p:sldMasterId id="2147483690" r:id="rId25"/>
    <p:sldMasterId id="2147483692" r:id="rId26"/>
    <p:sldMasterId id="2147483694" r:id="rId27"/>
    <p:sldMasterId id="2147483696" r:id="rId28"/>
  </p:sldMasterIdLst>
  <p:notesMasterIdLst>
    <p:notesMasterId r:id="rId29"/>
  </p:notesMasterIdLst>
  <p:sldIdLst>
    <p:sldId id="256" r:id="rId30"/>
    <p:sldId id="257" r:id="rId31"/>
    <p:sldId id="258" r:id="rId32"/>
    <p:sldId id="259" r:id="rId33"/>
    <p:sldId id="260" r:id="rId34"/>
    <p:sldId id="261" r:id="rId35"/>
    <p:sldId id="262" r:id="rId36"/>
    <p:sldId id="263" r:id="rId37"/>
    <p:sldId id="264" r:id="rId38"/>
    <p:sldId id="265" r:id="rId39"/>
    <p:sldId id="266" r:id="rId40"/>
    <p:sldId id="267" r:id="rId41"/>
    <p:sldId id="268" r:id="rId42"/>
    <p:sldId id="269" r:id="rId43"/>
    <p:sldId id="270" r:id="rId44"/>
    <p:sldId id="271" r:id="rId45"/>
    <p:sldId id="272" r:id="rId46"/>
    <p:sldId id="273" r:id="rId47"/>
    <p:sldId id="274" r:id="rId48"/>
    <p:sldId id="275" r:id="rId49"/>
    <p:sldId id="276" r:id="rId50"/>
  </p:sldIdLst>
  <p:sldSz cy="6858000" cx="12192000"/>
  <p:notesSz cx="6858000" cy="9144000"/>
  <p:embeddedFontLst>
    <p:embeddedFont>
      <p:font typeface="Bodoni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iLUGSqan2veBJtAqXqgmPofDlCW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hourav Ahmed Nirob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E5D6A9-707A-447F-B015-F6BA8C5CC2A7}">
  <a:tblStyle styleId="{40E5D6A9-707A-447F-B015-F6BA8C5CC2A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11.xml"/><Relationship Id="rId42" Type="http://schemas.openxmlformats.org/officeDocument/2006/relationships/slide" Target="slides/slide13.xml"/><Relationship Id="rId41" Type="http://schemas.openxmlformats.org/officeDocument/2006/relationships/slide" Target="slides/slide12.xml"/><Relationship Id="rId44" Type="http://schemas.openxmlformats.org/officeDocument/2006/relationships/slide" Target="slides/slide15.xml"/><Relationship Id="rId43" Type="http://schemas.openxmlformats.org/officeDocument/2006/relationships/slide" Target="slides/slide14.xml"/><Relationship Id="rId46" Type="http://schemas.openxmlformats.org/officeDocument/2006/relationships/slide" Target="slides/slide17.xml"/><Relationship Id="rId45" Type="http://schemas.openxmlformats.org/officeDocument/2006/relationships/slide" Target="slides/slide16.xml"/><Relationship Id="rId1" Type="http://schemas.openxmlformats.org/officeDocument/2006/relationships/theme" Target="theme/theme17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Master" Target="slideMasters/slideMaster5.xml"/><Relationship Id="rId48" Type="http://schemas.openxmlformats.org/officeDocument/2006/relationships/slide" Target="slides/slide19.xml"/><Relationship Id="rId47" Type="http://schemas.openxmlformats.org/officeDocument/2006/relationships/slide" Target="slides/slide18.xml"/><Relationship Id="rId49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.xml"/><Relationship Id="rId30" Type="http://schemas.openxmlformats.org/officeDocument/2006/relationships/slide" Target="slides/slide1.xml"/><Relationship Id="rId33" Type="http://schemas.openxmlformats.org/officeDocument/2006/relationships/slide" Target="slides/slide4.xml"/><Relationship Id="rId32" Type="http://schemas.openxmlformats.org/officeDocument/2006/relationships/slide" Target="slides/slide3.xml"/><Relationship Id="rId35" Type="http://schemas.openxmlformats.org/officeDocument/2006/relationships/slide" Target="slides/slide6.xml"/><Relationship Id="rId34" Type="http://schemas.openxmlformats.org/officeDocument/2006/relationships/slide" Target="slides/slide5.xml"/><Relationship Id="rId37" Type="http://schemas.openxmlformats.org/officeDocument/2006/relationships/slide" Target="slides/slide8.xml"/><Relationship Id="rId36" Type="http://schemas.openxmlformats.org/officeDocument/2006/relationships/slide" Target="slides/slide7.xml"/><Relationship Id="rId39" Type="http://schemas.openxmlformats.org/officeDocument/2006/relationships/slide" Target="slides/slide10.xml"/><Relationship Id="rId38" Type="http://schemas.openxmlformats.org/officeDocument/2006/relationships/slide" Target="slides/slide9.xml"/><Relationship Id="rId20" Type="http://schemas.openxmlformats.org/officeDocument/2006/relationships/slideMaster" Target="slideMasters/slideMaster16.xml"/><Relationship Id="rId22" Type="http://schemas.openxmlformats.org/officeDocument/2006/relationships/slideMaster" Target="slideMasters/slideMaster18.xml"/><Relationship Id="rId21" Type="http://schemas.openxmlformats.org/officeDocument/2006/relationships/slideMaster" Target="slideMasters/slideMaster17.xml"/><Relationship Id="rId24" Type="http://schemas.openxmlformats.org/officeDocument/2006/relationships/slideMaster" Target="slideMasters/slideMaster20.xml"/><Relationship Id="rId23" Type="http://schemas.openxmlformats.org/officeDocument/2006/relationships/slideMaster" Target="slideMasters/slideMaster19.xml"/><Relationship Id="rId26" Type="http://schemas.openxmlformats.org/officeDocument/2006/relationships/slideMaster" Target="slideMasters/slideMaster22.xml"/><Relationship Id="rId25" Type="http://schemas.openxmlformats.org/officeDocument/2006/relationships/slideMaster" Target="slideMasters/slideMaster21.xml"/><Relationship Id="rId28" Type="http://schemas.openxmlformats.org/officeDocument/2006/relationships/slideMaster" Target="slideMasters/slideMaster24.xml"/><Relationship Id="rId27" Type="http://schemas.openxmlformats.org/officeDocument/2006/relationships/slideMaster" Target="slideMasters/slideMaster23.xml"/><Relationship Id="rId29" Type="http://schemas.openxmlformats.org/officeDocument/2006/relationships/notesMaster" Target="notesMasters/notesMaster1.xml"/><Relationship Id="rId51" Type="http://schemas.openxmlformats.org/officeDocument/2006/relationships/font" Target="fonts/Bodoni-regular.fntdata"/><Relationship Id="rId50" Type="http://schemas.openxmlformats.org/officeDocument/2006/relationships/slide" Target="slides/slide21.xml"/><Relationship Id="rId53" Type="http://schemas.openxmlformats.org/officeDocument/2006/relationships/font" Target="fonts/Bodoni-italic.fntdata"/><Relationship Id="rId52" Type="http://schemas.openxmlformats.org/officeDocument/2006/relationships/font" Target="fonts/Bodoni-bold.fntdata"/><Relationship Id="rId11" Type="http://schemas.openxmlformats.org/officeDocument/2006/relationships/slideMaster" Target="slideMasters/slideMaster7.xml"/><Relationship Id="rId55" Type="http://customschemas.google.com/relationships/presentationmetadata" Target="metadata"/><Relationship Id="rId10" Type="http://schemas.openxmlformats.org/officeDocument/2006/relationships/slideMaster" Target="slideMasters/slideMaster6.xml"/><Relationship Id="rId54" Type="http://schemas.openxmlformats.org/officeDocument/2006/relationships/font" Target="fonts/Bodoni-boldItalic.fntdata"/><Relationship Id="rId13" Type="http://schemas.openxmlformats.org/officeDocument/2006/relationships/slideMaster" Target="slideMasters/slideMaster9.xml"/><Relationship Id="rId12" Type="http://schemas.openxmlformats.org/officeDocument/2006/relationships/slideMaster" Target="slideMasters/slideMaster8.xml"/><Relationship Id="rId15" Type="http://schemas.openxmlformats.org/officeDocument/2006/relationships/slideMaster" Target="slideMasters/slideMaster11.xml"/><Relationship Id="rId14" Type="http://schemas.openxmlformats.org/officeDocument/2006/relationships/slideMaster" Target="slideMasters/slideMaster10.xml"/><Relationship Id="rId17" Type="http://schemas.openxmlformats.org/officeDocument/2006/relationships/slideMaster" Target="slideMasters/slideMaster13.xml"/><Relationship Id="rId16" Type="http://schemas.openxmlformats.org/officeDocument/2006/relationships/slideMaster" Target="slideMasters/slideMaster12.xml"/><Relationship Id="rId19" Type="http://schemas.openxmlformats.org/officeDocument/2006/relationships/slideMaster" Target="slideMasters/slideMaster15.xml"/><Relationship Id="rId18" Type="http://schemas.openxmlformats.org/officeDocument/2006/relationships/slideMaster" Target="slideMasters/slideMaster14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4-18T19:32:04.431">
    <p:pos x="5398" y="2519"/>
    <p:text>The component diagram identifies software and hardware modules and dependencies,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lf405XI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:notes"/>
          <p:cNvSpPr/>
          <p:nvPr>
            <p:ph idx="2" type="sldImg"/>
          </p:nvPr>
        </p:nvSpPr>
        <p:spPr>
          <a:xfrm>
            <a:off x="685800" y="1143000"/>
            <a:ext cx="5484960" cy="3084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4:notes"/>
          <p:cNvSpPr txBox="1"/>
          <p:nvPr>
            <p:ph idx="1"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:notes"/>
          <p:cNvSpPr txBox="1"/>
          <p:nvPr>
            <p:ph idx="12" type="sldNum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4:notes"/>
          <p:cNvSpPr txBox="1"/>
          <p:nvPr>
            <p:ph idx="10" type="dt"/>
          </p:nvPr>
        </p:nvSpPr>
        <p:spPr>
          <a:xfrm>
            <a:off x="3884760" y="0"/>
            <a:ext cx="297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4/27/2025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7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7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8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1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3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4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6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7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7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8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8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9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9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0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1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1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5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5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5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3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2" type="tx">
  <p:cSld name="TITLE_AND_BOD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3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4" type="tx">
  <p:cSld name="TITLE_AND_BOD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7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7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9"/>
          <p:cNvSpPr txBox="1"/>
          <p:nvPr>
            <p:ph idx="11" type="ftr"/>
          </p:nvPr>
        </p:nvSpPr>
        <p:spPr>
          <a:xfrm rot="-5400000">
            <a:off x="-529920" y="984960"/>
            <a:ext cx="1726920" cy="28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9"/>
          <p:cNvSpPr txBox="1"/>
          <p:nvPr>
            <p:ph idx="12" type="sldNum"/>
          </p:nvPr>
        </p:nvSpPr>
        <p:spPr>
          <a:xfrm>
            <a:off x="135360" y="6428160"/>
            <a:ext cx="401040" cy="28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1"/>
          <p:cNvSpPr txBox="1"/>
          <p:nvPr>
            <p:ph idx="11" type="ftr"/>
          </p:nvPr>
        </p:nvSpPr>
        <p:spPr>
          <a:xfrm rot="-5400000">
            <a:off x="-529920" y="984960"/>
            <a:ext cx="1726920" cy="28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1"/>
          <p:cNvSpPr txBox="1"/>
          <p:nvPr>
            <p:ph idx="12" type="sldNum"/>
          </p:nvPr>
        </p:nvSpPr>
        <p:spPr>
          <a:xfrm>
            <a:off x="135360" y="6428160"/>
            <a:ext cx="401040" cy="28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3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53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5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55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7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7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9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59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6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63"/>
          <p:cNvSpPr txBox="1"/>
          <p:nvPr>
            <p:ph idx="11" type="ftr"/>
          </p:nvPr>
        </p:nvSpPr>
        <p:spPr>
          <a:xfrm rot="-5400000">
            <a:off x="-529920" y="984960"/>
            <a:ext cx="1726920" cy="28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63"/>
          <p:cNvSpPr txBox="1"/>
          <p:nvPr>
            <p:ph idx="12" type="sldNum"/>
          </p:nvPr>
        </p:nvSpPr>
        <p:spPr>
          <a:xfrm>
            <a:off x="135360" y="6428160"/>
            <a:ext cx="401040" cy="28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 type="blank">
  <p:cSld name="BLANK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4" type="blank">
  <p:cSld name="BLANK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7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67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8" type="blank">
  <p:cSld name="BLANK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 type="blank">
  <p:cSld name="BLANK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1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71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theme" Target="../theme/theme2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14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19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22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13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4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6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5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1.xml"/></Relationships>
</file>

<file path=ppt/slideMasters/_rels/slideMaster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7.xml"/></Relationships>
</file>

<file path=ppt/slideMasters/_rels/slideMaster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10.xml"/></Relationships>
</file>

<file path=ppt/slideMasters/_rels/slideMaster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16.xml"/></Relationships>
</file>

<file path=ppt/slideMasters/_rels/slideMaster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24.xml"/></Relationships>
</file>

<file path=ppt/slideMasters/_rels/slideMaster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theme" Target="../theme/theme11.xml"/></Relationships>
</file>

<file path=ppt/slideMasters/_rels/slideMaster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theme" Target="../theme/theme1.xml"/></Relationships>
</file>

<file path=ppt/slideMasters/_rels/slideMaster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theme" Target="../theme/theme12.xml"/></Relationships>
</file>

<file path=ppt/slideMasters/_rels/slideMaster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theme" Target="../theme/theme18.xml"/></Relationships>
</file>

<file path=ppt/slideMasters/_rels/slideMaster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9.xml"/></Relationships>
</file>

<file path=ppt/slideMasters/_rels/slideMaster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theme" Target="../theme/theme15.xml"/></Relationships>
</file>

<file path=ppt/slideMasters/_rels/slideMaster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theme" Target="../theme/theme8.xml"/></Relationships>
</file>

<file path=ppt/slideMasters/_rels/slideMaster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theme" Target="../theme/theme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2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1" name="Google Shape;11;p2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doni"/>
              <a:buNone/>
              <a:defRPr b="0" i="0" sz="4400" u="none" cap="none" strike="noStrike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2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24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6" name="Google Shape;16;p2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doni"/>
              <a:buNone/>
              <a:defRPr b="0" i="0" sz="4400" u="none" cap="none" strike="noStrike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28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6" name="Google Shape;26;p28"/>
          <p:cNvSpPr/>
          <p:nvPr/>
        </p:nvSpPr>
        <p:spPr>
          <a:xfrm>
            <a:off x="6095880" y="0"/>
            <a:ext cx="6094440" cy="4761000"/>
          </a:xfrm>
          <a:prstGeom prst="rect">
            <a:avLst/>
          </a:prstGeom>
          <a:solidFill>
            <a:srgbClr val="E6C6B7">
              <a:alpha val="40784"/>
            </a:srgbClr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BC0B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27" name="Google Shape;27;p28"/>
          <p:cNvCxnSpPr/>
          <p:nvPr/>
        </p:nvCxnSpPr>
        <p:spPr>
          <a:xfrm>
            <a:off x="0" y="2315880"/>
            <a:ext cx="3859560" cy="1440"/>
          </a:xfrm>
          <a:prstGeom prst="straightConnector1">
            <a:avLst/>
          </a:prstGeom>
          <a:noFill/>
          <a:ln cap="sq" cmpd="sng" w="15875">
            <a:solidFill>
              <a:srgbClr val="404040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8" name="Google Shape;28;p28"/>
          <p:cNvCxnSpPr/>
          <p:nvPr/>
        </p:nvCxnSpPr>
        <p:spPr>
          <a:xfrm>
            <a:off x="0" y="4658760"/>
            <a:ext cx="3859560" cy="1440"/>
          </a:xfrm>
          <a:prstGeom prst="straightConnector1">
            <a:avLst/>
          </a:prstGeom>
          <a:noFill/>
          <a:ln cap="sq" cmpd="sng" w="15875">
            <a:solidFill>
              <a:srgbClr val="4040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9" name="Google Shape;29;p28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30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6" name="Google Shape;36;p30"/>
          <p:cNvSpPr/>
          <p:nvPr/>
        </p:nvSpPr>
        <p:spPr>
          <a:xfrm>
            <a:off x="4377240" y="3560400"/>
            <a:ext cx="7813440" cy="3296160"/>
          </a:xfrm>
          <a:prstGeom prst="rect">
            <a:avLst/>
          </a:prstGeom>
          <a:solidFill>
            <a:srgbClr val="E5D0CB">
              <a:alpha val="40784"/>
            </a:srgbClr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BC0B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7" name="Google Shape;37;p30"/>
          <p:cNvCxnSpPr/>
          <p:nvPr/>
        </p:nvCxnSpPr>
        <p:spPr>
          <a:xfrm>
            <a:off x="0" y="2657520"/>
            <a:ext cx="10783440" cy="1440"/>
          </a:xfrm>
          <a:prstGeom prst="straightConnector1">
            <a:avLst/>
          </a:prstGeom>
          <a:noFill/>
          <a:ln cap="sq" cmpd="sng" w="15875">
            <a:solidFill>
              <a:srgbClr val="4040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32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5" name="Google Shape;45;p32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46" name="Google Shape;46;p32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34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2" name="Google Shape;52;p34"/>
          <p:cNvSpPr txBox="1"/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doni"/>
              <a:buNone/>
              <a:defRPr b="0" i="0" sz="4400" u="none" cap="none" strike="noStrike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3" name="Google Shape;53;p34"/>
          <p:cNvSpPr txBox="1"/>
          <p:nvPr>
            <p:ph idx="1"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36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9" name="Google Shape;59;p36"/>
          <p:cNvSpPr txBox="1"/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doni"/>
              <a:buNone/>
              <a:defRPr b="0" i="0" sz="4400" u="none" cap="none" strike="noStrike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63;p38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4" name="Google Shape;64;p38"/>
          <p:cNvSpPr txBox="1"/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doni"/>
              <a:buNone/>
              <a:defRPr b="0" i="0" sz="4400" u="none" cap="none" strike="noStrike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40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9" name="Google Shape;69;p40"/>
          <p:cNvSpPr txBox="1"/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doni"/>
              <a:buNone/>
              <a:defRPr b="0" i="0" sz="4400" u="none" cap="none" strike="noStrike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40"/>
          <p:cNvSpPr txBox="1"/>
          <p:nvPr>
            <p:ph idx="1"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42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76" name="Google Shape;76;p42"/>
          <p:cNvSpPr txBox="1"/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doni"/>
              <a:buNone/>
              <a:defRPr b="0" i="0" sz="4400" u="none" cap="none" strike="noStrike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44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81" name="Google Shape;81;p44"/>
          <p:cNvSpPr txBox="1"/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doni"/>
              <a:buNone/>
              <a:defRPr b="0" i="0" sz="4400" u="none" cap="none" strike="noStrike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44"/>
          <p:cNvSpPr txBox="1"/>
          <p:nvPr>
            <p:ph idx="1"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87;p46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88" name="Google Shape;88;p46"/>
          <p:cNvSpPr/>
          <p:nvPr/>
        </p:nvSpPr>
        <p:spPr>
          <a:xfrm>
            <a:off x="6095880" y="0"/>
            <a:ext cx="6094440" cy="4761000"/>
          </a:xfrm>
          <a:prstGeom prst="rect">
            <a:avLst/>
          </a:prstGeom>
          <a:solidFill>
            <a:srgbClr val="E6C6B7">
              <a:alpha val="40784"/>
            </a:srgbClr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BC0B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89" name="Google Shape;89;p46"/>
          <p:cNvCxnSpPr/>
          <p:nvPr/>
        </p:nvCxnSpPr>
        <p:spPr>
          <a:xfrm>
            <a:off x="0" y="2315880"/>
            <a:ext cx="3859560" cy="1440"/>
          </a:xfrm>
          <a:prstGeom prst="straightConnector1">
            <a:avLst/>
          </a:prstGeom>
          <a:noFill/>
          <a:ln cap="sq" cmpd="sng" w="15875">
            <a:solidFill>
              <a:srgbClr val="404040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90" name="Google Shape;90;p46"/>
          <p:cNvCxnSpPr/>
          <p:nvPr/>
        </p:nvCxnSpPr>
        <p:spPr>
          <a:xfrm>
            <a:off x="0" y="4658760"/>
            <a:ext cx="3859560" cy="1440"/>
          </a:xfrm>
          <a:prstGeom prst="straightConnector1">
            <a:avLst/>
          </a:prstGeom>
          <a:noFill/>
          <a:ln cap="sq" cmpd="sng" w="15875">
            <a:solidFill>
              <a:srgbClr val="4040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1" name="Google Shape;91;p46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2" name="Google Shape;92;p46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48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98" name="Google Shape;98;p48"/>
          <p:cNvSpPr txBox="1"/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doni"/>
              <a:buNone/>
              <a:defRPr b="0" i="0" sz="4400" u="none" cap="none" strike="noStrike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9" name="Google Shape;99;p48"/>
          <p:cNvSpPr txBox="1"/>
          <p:nvPr>
            <p:ph idx="11" type="ftr"/>
          </p:nvPr>
        </p:nvSpPr>
        <p:spPr>
          <a:xfrm rot="-5400000">
            <a:off x="-529920" y="984960"/>
            <a:ext cx="1726920" cy="28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0" name="Google Shape;100;p48"/>
          <p:cNvSpPr txBox="1"/>
          <p:nvPr>
            <p:ph idx="12" type="sldNum"/>
          </p:nvPr>
        </p:nvSpPr>
        <p:spPr>
          <a:xfrm>
            <a:off x="135360" y="6428160"/>
            <a:ext cx="401040" cy="28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p50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07" name="Google Shape;107;p50"/>
          <p:cNvSpPr txBox="1"/>
          <p:nvPr>
            <p:ph idx="11" type="ftr"/>
          </p:nvPr>
        </p:nvSpPr>
        <p:spPr>
          <a:xfrm rot="-5400000">
            <a:off x="-529920" y="984960"/>
            <a:ext cx="1726920" cy="28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8" name="Google Shape;108;p50"/>
          <p:cNvSpPr txBox="1"/>
          <p:nvPr>
            <p:ph idx="12" type="sldNum"/>
          </p:nvPr>
        </p:nvSpPr>
        <p:spPr>
          <a:xfrm>
            <a:off x="135360" y="6428160"/>
            <a:ext cx="401040" cy="28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oogle Shape;113;p52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14" name="Google Shape;114;p52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15" name="Google Shape;115;p52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" name="Google Shape;120;p54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21" name="Google Shape;121;p54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2" name="Google Shape;122;p54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Google Shape;127;p56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28" name="Google Shape;128;p56"/>
          <p:cNvSpPr/>
          <p:nvPr/>
        </p:nvSpPr>
        <p:spPr>
          <a:xfrm>
            <a:off x="9128880" y="816840"/>
            <a:ext cx="3061440" cy="6039720"/>
          </a:xfrm>
          <a:prstGeom prst="rect">
            <a:avLst/>
          </a:prstGeom>
          <a:solidFill>
            <a:srgbClr val="D9B9B1">
              <a:alpha val="40784"/>
            </a:srgbClr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BC0B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9" name="Google Shape;129;p56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0" name="Google Shape;130;p56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" name="Google Shape;135;p58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36" name="Google Shape;136;p58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7" name="Google Shape;137;p58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60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43" name="Google Shape;143;p60"/>
          <p:cNvCxnSpPr/>
          <p:nvPr/>
        </p:nvCxnSpPr>
        <p:spPr>
          <a:xfrm flipH="1" rot="10800000">
            <a:off x="11031120" y="4545360"/>
            <a:ext cx="1440" cy="2314080"/>
          </a:xfrm>
          <a:prstGeom prst="straightConnector1">
            <a:avLst/>
          </a:prstGeom>
          <a:noFill/>
          <a:ln cap="sq" cmpd="sng" w="15875">
            <a:solidFill>
              <a:srgbClr val="404040"/>
            </a:solidFill>
            <a:prstDash val="solid"/>
            <a:round/>
            <a:headEnd len="sm" w="sm" type="none"/>
            <a:tailEnd len="med" w="med" type="oval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62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47" name="Google Shape;147;p62"/>
          <p:cNvSpPr txBox="1"/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doni"/>
              <a:buNone/>
              <a:defRPr b="0" i="0" sz="4400" u="none" cap="none" strike="noStrike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8" name="Google Shape;148;p62"/>
          <p:cNvSpPr txBox="1"/>
          <p:nvPr>
            <p:ph idx="1"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9" name="Google Shape;149;p62"/>
          <p:cNvSpPr txBox="1"/>
          <p:nvPr>
            <p:ph idx="11" type="ftr"/>
          </p:nvPr>
        </p:nvSpPr>
        <p:spPr>
          <a:xfrm rot="-5400000">
            <a:off x="-529920" y="984960"/>
            <a:ext cx="1726920" cy="28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50" name="Google Shape;150;p62"/>
          <p:cNvSpPr txBox="1"/>
          <p:nvPr>
            <p:ph idx="12" type="sldNum"/>
          </p:nvPr>
        </p:nvSpPr>
        <p:spPr>
          <a:xfrm>
            <a:off x="135360" y="6428160"/>
            <a:ext cx="401040" cy="28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Google Shape;157;p64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58" name="Google Shape;158;p64"/>
          <p:cNvCxnSpPr/>
          <p:nvPr/>
        </p:nvCxnSpPr>
        <p:spPr>
          <a:xfrm>
            <a:off x="0" y="6009840"/>
            <a:ext cx="6448320" cy="1440"/>
          </a:xfrm>
          <a:prstGeom prst="straightConnector1">
            <a:avLst/>
          </a:prstGeom>
          <a:noFill/>
          <a:ln cap="sq" cmpd="sng" w="15875">
            <a:solidFill>
              <a:srgbClr val="404040"/>
            </a:solidFill>
            <a:prstDash val="solid"/>
            <a:round/>
            <a:headEnd len="sm" w="sm" type="none"/>
            <a:tailEnd len="med" w="med" type="oval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Google Shape;161;p66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62" name="Google Shape;162;p66"/>
          <p:cNvSpPr/>
          <p:nvPr/>
        </p:nvSpPr>
        <p:spPr>
          <a:xfrm>
            <a:off x="976680" y="1933920"/>
            <a:ext cx="1958040" cy="4931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accent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3" name="Google Shape;163;p66"/>
          <p:cNvSpPr/>
          <p:nvPr/>
        </p:nvSpPr>
        <p:spPr>
          <a:xfrm>
            <a:off x="6394680" y="1933920"/>
            <a:ext cx="1958040" cy="4931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accent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164" name="Google Shape;164;p66"/>
          <p:cNvCxnSpPr/>
          <p:nvPr/>
        </p:nvCxnSpPr>
        <p:spPr>
          <a:xfrm>
            <a:off x="3078720" y="2981880"/>
            <a:ext cx="2950200" cy="1440"/>
          </a:xfrm>
          <a:prstGeom prst="straightConnector1">
            <a:avLst/>
          </a:prstGeom>
          <a:noFill/>
          <a:ln cap="sq" cmpd="sng" w="15875">
            <a:solidFill>
              <a:srgbClr val="404040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65" name="Google Shape;165;p66"/>
          <p:cNvCxnSpPr/>
          <p:nvPr/>
        </p:nvCxnSpPr>
        <p:spPr>
          <a:xfrm>
            <a:off x="3068640" y="5567760"/>
            <a:ext cx="2950200" cy="1440"/>
          </a:xfrm>
          <a:prstGeom prst="straightConnector1">
            <a:avLst/>
          </a:prstGeom>
          <a:noFill/>
          <a:ln cap="sq" cmpd="sng" w="15875">
            <a:solidFill>
              <a:srgbClr val="404040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66" name="Google Shape;166;p66"/>
          <p:cNvCxnSpPr/>
          <p:nvPr/>
        </p:nvCxnSpPr>
        <p:spPr>
          <a:xfrm>
            <a:off x="8461080" y="2981880"/>
            <a:ext cx="2950560" cy="1440"/>
          </a:xfrm>
          <a:prstGeom prst="straightConnector1">
            <a:avLst/>
          </a:prstGeom>
          <a:noFill/>
          <a:ln cap="sq" cmpd="sng" w="15875">
            <a:solidFill>
              <a:srgbClr val="404040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67" name="Google Shape;167;p66"/>
          <p:cNvCxnSpPr/>
          <p:nvPr/>
        </p:nvCxnSpPr>
        <p:spPr>
          <a:xfrm>
            <a:off x="8461080" y="5565960"/>
            <a:ext cx="2950560" cy="1440"/>
          </a:xfrm>
          <a:prstGeom prst="straightConnector1">
            <a:avLst/>
          </a:prstGeom>
          <a:noFill/>
          <a:ln cap="sq" cmpd="sng" w="15875">
            <a:solidFill>
              <a:srgbClr val="4040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68" name="Google Shape;168;p66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69" name="Google Shape;169;p66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" name="Google Shape;174;p68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75" name="Google Shape;175;p68"/>
          <p:cNvSpPr/>
          <p:nvPr/>
        </p:nvSpPr>
        <p:spPr>
          <a:xfrm>
            <a:off x="0" y="2633040"/>
            <a:ext cx="12203640" cy="4320360"/>
          </a:xfrm>
          <a:prstGeom prst="rect">
            <a:avLst/>
          </a:prstGeom>
          <a:solidFill>
            <a:srgbClr val="E4D4C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accent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Google Shape;178;p70"/>
          <p:cNvCxnSpPr/>
          <p:nvPr/>
        </p:nvCxnSpPr>
        <p:spPr>
          <a:xfrm>
            <a:off x="333720" y="1754640"/>
            <a:ext cx="1440" cy="4563720"/>
          </a:xfrm>
          <a:prstGeom prst="straightConnector1">
            <a:avLst/>
          </a:prstGeom>
          <a:noFill/>
          <a:ln cap="sq" cmpd="sng" w="12700">
            <a:solidFill>
              <a:srgbClr val="40404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79" name="Google Shape;179;p70"/>
          <p:cNvSpPr txBox="1"/>
          <p:nvPr>
            <p:ph idx="11" type="ftr"/>
          </p:nvPr>
        </p:nvSpPr>
        <p:spPr>
          <a:xfrm>
            <a:off x="365760" y="6400800"/>
            <a:ext cx="291564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80" name="Google Shape;180;p70"/>
          <p:cNvSpPr txBox="1"/>
          <p:nvPr>
            <p:ph idx="12" type="sldNum"/>
          </p:nvPr>
        </p:nvSpPr>
        <p:spPr>
          <a:xfrm>
            <a:off x="11356920" y="6400800"/>
            <a:ext cx="4374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1200"/>
              <a:buFont typeface="Avenir"/>
              <a:buNone/>
              <a:defRPr b="0" sz="1200" u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1.png"/><Relationship Id="rId5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Relationship Id="rId5" Type="http://schemas.openxmlformats.org/officeDocument/2006/relationships/image" Target="../media/image7.jpg"/><Relationship Id="rId6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jp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jp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jpg"/><Relationship Id="rId5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7.jp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7.jp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7.jpg"/><Relationship Id="rId5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5000"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"/>
          <p:cNvSpPr/>
          <p:nvPr/>
        </p:nvSpPr>
        <p:spPr>
          <a:xfrm>
            <a:off x="7526867" y="3977280"/>
            <a:ext cx="4294800" cy="968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Supervisors-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Md Ahsan Habib, Professor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"/>
          <p:cNvSpPr/>
          <p:nvPr/>
        </p:nvSpPr>
        <p:spPr>
          <a:xfrm>
            <a:off x="2590920" y="2756160"/>
            <a:ext cx="730116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32B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Thesis Pre-Defense – Fall 2024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 May, 2025 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"/>
          <p:cNvSpPr/>
          <p:nvPr/>
        </p:nvSpPr>
        <p:spPr>
          <a:xfrm>
            <a:off x="148320" y="1230840"/>
            <a:ext cx="11893680" cy="1321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Federal Blockchain In E-Voting: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Revolutionary Approach to Transparent Voting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6600" y="-64440"/>
            <a:ext cx="3417120" cy="13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"/>
          <p:cNvSpPr/>
          <p:nvPr/>
        </p:nvSpPr>
        <p:spPr>
          <a:xfrm>
            <a:off x="148320" y="5924160"/>
            <a:ext cx="11976840" cy="76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 University of Bangladesh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"/>
          <p:cNvSpPr/>
          <p:nvPr/>
        </p:nvSpPr>
        <p:spPr>
          <a:xfrm>
            <a:off x="705239" y="3843360"/>
            <a:ext cx="5083085" cy="202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by-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Monowar Hossen Sourav  -  221002578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 Sajeeb Mia                 -  221002251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MD.Naim Ahmmed           -  221002599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4000"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"/>
          <p:cNvSpPr/>
          <p:nvPr/>
        </p:nvSpPr>
        <p:spPr>
          <a:xfrm>
            <a:off x="1694160" y="1589760"/>
            <a:ext cx="4377600" cy="408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Blockchain?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Block Process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Architecture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"/>
          <p:cNvSpPr/>
          <p:nvPr/>
        </p:nvSpPr>
        <p:spPr>
          <a:xfrm>
            <a:off x="2522520" y="303120"/>
            <a:ext cx="709956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"/>
          <p:cNvSpPr/>
          <p:nvPr/>
        </p:nvSpPr>
        <p:spPr>
          <a:xfrm>
            <a:off x="6779520" y="1888920"/>
            <a:ext cx="3716640" cy="30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Dataflow Diagram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Grant Chart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Budget Plan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"/>
          <p:cNvSpPr/>
          <p:nvPr/>
        </p:nvSpPr>
        <p:spPr>
          <a:xfrm>
            <a:off x="2522520" y="324720"/>
            <a:ext cx="709956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695092" y="1088700"/>
            <a:ext cx="10287720" cy="2963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343080" lvl="0" marL="3430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E-voting (electronic voting)is the use of electronic systems to cast and count votes in an election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just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rgbClr val="01010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allows voters to vote using computers, mobile devices, or electronic machines — either at polling stations or remotely. E-voting can speed up the process, reduce human errors, and provide faster results compared to traditional paper-based voting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080" lvl="0" marL="343080" marR="0" rtl="0" algn="just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Clr>
                <a:srgbClr val="01010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E-Voting system addresses these issues with live </a:t>
            </a:r>
            <a:r>
              <a:rPr b="0" i="0" lang="en-US" sz="2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biometric authentication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double-layer security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efficient secret-sharing </a:t>
            </a:r>
            <a:r>
              <a:rPr b="0" i="0" lang="en-US" sz="2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tallying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This ensures stronger voter identity, </a:t>
            </a:r>
            <a:r>
              <a:rPr b="0" i="0" lang="en-US" sz="2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verifiability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scalable performance.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20520" y="4097880"/>
            <a:ext cx="6015600" cy="2669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"/>
          <p:cNvSpPr/>
          <p:nvPr/>
        </p:nvSpPr>
        <p:spPr>
          <a:xfrm>
            <a:off x="4129560" y="6585480"/>
            <a:ext cx="295632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1: Component diagram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/>
          <p:nvPr/>
        </p:nvSpPr>
        <p:spPr>
          <a:xfrm>
            <a:off x="2491200" y="333000"/>
            <a:ext cx="7099560" cy="5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Blockchain?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682560" y="1187280"/>
            <a:ext cx="7133400" cy="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blockchain is a </a:t>
            </a:r>
            <a:r>
              <a:rPr b="1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database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maintains a </a:t>
            </a:r>
            <a:r>
              <a:rPr b="1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keep-growing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 of ordered records called blocks.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4"/>
          <p:cNvGrpSpPr/>
          <p:nvPr/>
        </p:nvGrpSpPr>
        <p:grpSpPr>
          <a:xfrm>
            <a:off x="735120" y="5295600"/>
            <a:ext cx="7080480" cy="1026720"/>
            <a:chOff x="735120" y="5295600"/>
            <a:chExt cx="7080480" cy="1026720"/>
          </a:xfrm>
        </p:grpSpPr>
        <p:sp>
          <p:nvSpPr>
            <p:cNvPr id="224" name="Google Shape;224;p4"/>
            <p:cNvSpPr/>
            <p:nvPr/>
          </p:nvSpPr>
          <p:spPr>
            <a:xfrm>
              <a:off x="735120" y="5333040"/>
              <a:ext cx="844920" cy="956520"/>
            </a:xfrm>
            <a:prstGeom prst="cube">
              <a:avLst>
                <a:gd fmla="val 25000" name="adj"/>
              </a:avLst>
            </a:prstGeom>
            <a:solidFill>
              <a:srgbClr val="FDE9E4"/>
            </a:solidFill>
            <a:ln cap="flat" cmpd="sng" w="12700">
              <a:solidFill>
                <a:srgbClr val="A8A6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5" name="Google Shape;225;p4"/>
            <p:cNvSpPr/>
            <p:nvPr/>
          </p:nvSpPr>
          <p:spPr>
            <a:xfrm>
              <a:off x="2293200" y="5333040"/>
              <a:ext cx="844920" cy="956520"/>
            </a:xfrm>
            <a:prstGeom prst="cube">
              <a:avLst>
                <a:gd fmla="val 25000" name="adj"/>
              </a:avLst>
            </a:prstGeom>
            <a:solidFill>
              <a:srgbClr val="E5D0CB"/>
            </a:solidFill>
            <a:ln cap="flat" cmpd="sng" w="12700">
              <a:solidFill>
                <a:srgbClr val="A8A6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6" name="Google Shape;226;p4"/>
            <p:cNvSpPr/>
            <p:nvPr/>
          </p:nvSpPr>
          <p:spPr>
            <a:xfrm>
              <a:off x="5416920" y="5365800"/>
              <a:ext cx="844920" cy="956520"/>
            </a:xfrm>
            <a:prstGeom prst="cube">
              <a:avLst>
                <a:gd fmla="val 25000" name="adj"/>
              </a:avLst>
            </a:prstGeom>
            <a:solidFill>
              <a:srgbClr val="A0604F"/>
            </a:solidFill>
            <a:ln cap="flat" cmpd="sng" w="12700">
              <a:solidFill>
                <a:srgbClr val="A8A6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7" name="Google Shape;227;p4"/>
            <p:cNvSpPr/>
            <p:nvPr/>
          </p:nvSpPr>
          <p:spPr>
            <a:xfrm>
              <a:off x="3854880" y="5333040"/>
              <a:ext cx="844920" cy="956520"/>
            </a:xfrm>
            <a:prstGeom prst="cube">
              <a:avLst>
                <a:gd fmla="val 25000" name="adj"/>
              </a:avLst>
            </a:prstGeom>
            <a:solidFill>
              <a:srgbClr val="D9B9B1"/>
            </a:solidFill>
            <a:ln cap="flat" cmpd="sng" w="12700">
              <a:solidFill>
                <a:srgbClr val="A8A6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Link" id="228" name="Google Shape;228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2656200">
              <a:off x="1617120" y="5459760"/>
              <a:ext cx="637560" cy="676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ink" id="229" name="Google Shape;229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2656200">
              <a:off x="3196440" y="5492520"/>
              <a:ext cx="637560" cy="676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ink" id="230" name="Google Shape;230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2656200">
              <a:off x="4754520" y="5471280"/>
              <a:ext cx="637560" cy="6760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4"/>
            <p:cNvSpPr/>
            <p:nvPr/>
          </p:nvSpPr>
          <p:spPr>
            <a:xfrm>
              <a:off x="6970680" y="5295600"/>
              <a:ext cx="844920" cy="956520"/>
            </a:xfrm>
            <a:prstGeom prst="cube">
              <a:avLst>
                <a:gd fmla="val 25000" name="adj"/>
              </a:avLst>
            </a:prstGeom>
            <a:solidFill>
              <a:srgbClr val="6A4035"/>
            </a:solidFill>
            <a:ln cap="flat" cmpd="sng" w="12700">
              <a:solidFill>
                <a:srgbClr val="A8A6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Link" id="232" name="Google Shape;232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2656200">
              <a:off x="6281640" y="5492520"/>
              <a:ext cx="637560" cy="6760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3" name="Google Shape;233;p4"/>
          <p:cNvSpPr/>
          <p:nvPr/>
        </p:nvSpPr>
        <p:spPr>
          <a:xfrm>
            <a:off x="1064160" y="2055960"/>
            <a:ext cx="6783840" cy="31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Header</a:t>
            </a:r>
            <a:r>
              <a:rPr b="1" i="0" lang="en-US" sz="20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Combine</a:t>
            </a:r>
            <a:r>
              <a:rPr b="0" i="0" lang="en-US" sz="20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the above elements.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Timestamp: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block </a:t>
            </a:r>
            <a:r>
              <a:rPr b="1" i="0" lang="en-US" sz="20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Previous Hash: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with the </a:t>
            </a:r>
            <a:r>
              <a:rPr b="1" i="0" lang="en-US" sz="20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block's hash.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</a:t>
            </a:r>
            <a:r>
              <a:rPr b="1" i="0" lang="en-US" sz="20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block data.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SHA-256 to </a:t>
            </a:r>
            <a:r>
              <a:rPr b="1" i="0" lang="en-US" sz="20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b="1" i="0" lang="en-US" sz="20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block hash.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Nonce: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for </a:t>
            </a:r>
            <a:r>
              <a:rPr b="1" i="0" lang="en-US" sz="20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proof-of-work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adjustments.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1010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Merkle Root: </a:t>
            </a:r>
            <a:r>
              <a:rPr b="1" i="0" lang="en-US" sz="20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 transactions.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4"/>
          <p:cNvGrpSpPr/>
          <p:nvPr/>
        </p:nvGrpSpPr>
        <p:grpSpPr>
          <a:xfrm>
            <a:off x="8477640" y="1006560"/>
            <a:ext cx="3030480" cy="5045400"/>
            <a:chOff x="8477640" y="1006560"/>
            <a:chExt cx="3030480" cy="5045400"/>
          </a:xfrm>
        </p:grpSpPr>
        <p:sp>
          <p:nvSpPr>
            <p:cNvPr id="235" name="Google Shape;235;p4"/>
            <p:cNvSpPr/>
            <p:nvPr/>
          </p:nvSpPr>
          <p:spPr>
            <a:xfrm>
              <a:off x="8514360" y="1042200"/>
              <a:ext cx="2957400" cy="5009760"/>
            </a:xfrm>
            <a:prstGeom prst="can">
              <a:avLst>
                <a:gd fmla="val 19711" name="adj"/>
              </a:avLst>
            </a:prstGeom>
            <a:solidFill>
              <a:srgbClr val="F2F2F2"/>
            </a:solidFill>
            <a:ln cap="flat" cmpd="sng" w="9525">
              <a:solidFill>
                <a:srgbClr val="010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9108000" y="1006560"/>
              <a:ext cx="1671480" cy="308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0000" spcFirstLastPara="1" rIns="9000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Block n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9164880" y="1653840"/>
              <a:ext cx="1557720" cy="583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0000" spcFirstLastPara="1" rIns="9000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Header</a:t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9040680" y="2415240"/>
              <a:ext cx="1986120" cy="517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0000" spcFirstLastPara="1" rIns="90000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Timestamp</a:t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8477640" y="3008880"/>
              <a:ext cx="2955240" cy="517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0000" spcFirstLastPara="1" rIns="90000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Previous Hash</a:t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8559360" y="3676320"/>
              <a:ext cx="2948760" cy="517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0000" spcFirstLastPara="1" rIns="90000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</a:t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" name="Google Shape;241;p4"/>
            <p:cNvCxnSpPr/>
            <p:nvPr/>
          </p:nvCxnSpPr>
          <p:spPr>
            <a:xfrm flipH="1" rot="10800000">
              <a:off x="8518680" y="2327760"/>
              <a:ext cx="2958480" cy="1800"/>
            </a:xfrm>
            <a:prstGeom prst="straightConnector1">
              <a:avLst/>
            </a:prstGeom>
            <a:noFill/>
            <a:ln cap="flat" cmpd="sng" w="9525">
              <a:solidFill>
                <a:srgbClr val="F998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4"/>
            <p:cNvCxnSpPr/>
            <p:nvPr/>
          </p:nvCxnSpPr>
          <p:spPr>
            <a:xfrm>
              <a:off x="8514000" y="3002400"/>
              <a:ext cx="2960280" cy="1440"/>
            </a:xfrm>
            <a:prstGeom prst="straightConnector1">
              <a:avLst/>
            </a:prstGeom>
            <a:noFill/>
            <a:ln cap="flat" cmpd="sng" w="9525">
              <a:solidFill>
                <a:srgbClr val="F998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p4"/>
            <p:cNvCxnSpPr/>
            <p:nvPr/>
          </p:nvCxnSpPr>
          <p:spPr>
            <a:xfrm flipH="1" rot="10800000">
              <a:off x="8515080" y="3622680"/>
              <a:ext cx="2958120" cy="1800"/>
            </a:xfrm>
            <a:prstGeom prst="straightConnector1">
              <a:avLst/>
            </a:prstGeom>
            <a:noFill/>
            <a:ln cap="flat" cmpd="sng" w="9525">
              <a:solidFill>
                <a:srgbClr val="F998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" name="Google Shape;244;p4"/>
            <p:cNvCxnSpPr/>
            <p:nvPr/>
          </p:nvCxnSpPr>
          <p:spPr>
            <a:xfrm>
              <a:off x="8518680" y="4227840"/>
              <a:ext cx="2960280" cy="1440"/>
            </a:xfrm>
            <a:prstGeom prst="straightConnector1">
              <a:avLst/>
            </a:prstGeom>
            <a:noFill/>
            <a:ln cap="flat" cmpd="sng" w="9525">
              <a:solidFill>
                <a:srgbClr val="F998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4"/>
            <p:cNvCxnSpPr/>
            <p:nvPr/>
          </p:nvCxnSpPr>
          <p:spPr>
            <a:xfrm>
              <a:off x="8518680" y="4837320"/>
              <a:ext cx="2960280" cy="1440"/>
            </a:xfrm>
            <a:prstGeom prst="straightConnector1">
              <a:avLst/>
            </a:prstGeom>
            <a:noFill/>
            <a:ln cap="flat" cmpd="sng" w="9525">
              <a:solidFill>
                <a:srgbClr val="F998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4"/>
            <p:cNvCxnSpPr/>
            <p:nvPr/>
          </p:nvCxnSpPr>
          <p:spPr>
            <a:xfrm>
              <a:off x="8516160" y="5415120"/>
              <a:ext cx="2960280" cy="1440"/>
            </a:xfrm>
            <a:prstGeom prst="straightConnector1">
              <a:avLst/>
            </a:prstGeom>
            <a:noFill/>
            <a:ln cap="flat" cmpd="sng" w="9525">
              <a:solidFill>
                <a:srgbClr val="F998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7" name="Google Shape;247;p4"/>
            <p:cNvSpPr/>
            <p:nvPr/>
          </p:nvSpPr>
          <p:spPr>
            <a:xfrm>
              <a:off x="8521920" y="4271040"/>
              <a:ext cx="2948760" cy="517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0000" spcFirstLastPara="1" rIns="90000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Hash Calculated</a:t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8530560" y="4842000"/>
              <a:ext cx="2924640" cy="517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0000" spcFirstLastPara="1" rIns="90000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Nonce</a:t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8546760" y="5461200"/>
              <a:ext cx="2948760" cy="517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0000" spcFirstLastPara="1" rIns="90000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Merkel Root</a:t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0" name="Google Shape;250;p4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5"/>
          <p:cNvGrpSpPr/>
          <p:nvPr/>
        </p:nvGrpSpPr>
        <p:grpSpPr>
          <a:xfrm>
            <a:off x="4939200" y="1175400"/>
            <a:ext cx="2402640" cy="3260880"/>
            <a:chOff x="4939200" y="1175400"/>
            <a:chExt cx="2402640" cy="3260880"/>
          </a:xfrm>
        </p:grpSpPr>
        <p:grpSp>
          <p:nvGrpSpPr>
            <p:cNvPr id="258" name="Google Shape;258;p5"/>
            <p:cNvGrpSpPr/>
            <p:nvPr/>
          </p:nvGrpSpPr>
          <p:grpSpPr>
            <a:xfrm>
              <a:off x="4960800" y="1175400"/>
              <a:ext cx="2373840" cy="3260880"/>
              <a:chOff x="4960800" y="1175400"/>
              <a:chExt cx="2373840" cy="3260880"/>
            </a:xfrm>
          </p:grpSpPr>
          <p:sp>
            <p:nvSpPr>
              <p:cNvPr id="259" name="Google Shape;259;p5"/>
              <p:cNvSpPr/>
              <p:nvPr/>
            </p:nvSpPr>
            <p:spPr>
              <a:xfrm>
                <a:off x="4960800" y="1175400"/>
                <a:ext cx="2370960" cy="3260880"/>
              </a:xfrm>
              <a:prstGeom prst="roundRect">
                <a:avLst>
                  <a:gd fmla="val 16667" name="adj"/>
                </a:avLst>
              </a:prstGeom>
              <a:solidFill>
                <a:srgbClr val="B0A6AC"/>
              </a:solidFill>
              <a:ln cap="flat" cmpd="sng" w="12700">
                <a:solidFill>
                  <a:srgbClr val="A8A6A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60" name="Google Shape;260;p5"/>
              <p:cNvCxnSpPr/>
              <p:nvPr/>
            </p:nvCxnSpPr>
            <p:spPr>
              <a:xfrm>
                <a:off x="4960800" y="1805400"/>
                <a:ext cx="2373840" cy="144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1010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1" name="Google Shape;261;p5"/>
              <p:cNvSpPr/>
              <p:nvPr/>
            </p:nvSpPr>
            <p:spPr>
              <a:xfrm>
                <a:off x="4970880" y="1305720"/>
                <a:ext cx="2292840" cy="394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Block No. 02</a:t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2" name="Google Shape;262;p5"/>
              <p:cNvCxnSpPr/>
              <p:nvPr/>
            </p:nvCxnSpPr>
            <p:spPr>
              <a:xfrm>
                <a:off x="4960800" y="3016080"/>
                <a:ext cx="2373840" cy="144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1010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3" name="Google Shape;263;p5"/>
              <p:cNvCxnSpPr/>
              <p:nvPr/>
            </p:nvCxnSpPr>
            <p:spPr>
              <a:xfrm>
                <a:off x="4960800" y="3763800"/>
                <a:ext cx="2373840" cy="144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1010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64" name="Google Shape;264;p5"/>
            <p:cNvSpPr/>
            <p:nvPr/>
          </p:nvSpPr>
          <p:spPr>
            <a:xfrm>
              <a:off x="4939200" y="1843560"/>
              <a:ext cx="2402640" cy="394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5" name="Google Shape;265;p5"/>
          <p:cNvSpPr/>
          <p:nvPr/>
        </p:nvSpPr>
        <p:spPr>
          <a:xfrm>
            <a:off x="4970880" y="3006000"/>
            <a:ext cx="237096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Previous Hash: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0000D8C42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4960800" y="3858120"/>
            <a:ext cx="237096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Hash: 00003A459 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5"/>
          <p:cNvCxnSpPr/>
          <p:nvPr/>
        </p:nvCxnSpPr>
        <p:spPr>
          <a:xfrm flipH="1">
            <a:off x="3759120" y="2556720"/>
            <a:ext cx="1181520" cy="1764720"/>
          </a:xfrm>
          <a:prstGeom prst="straightConnector1">
            <a:avLst/>
          </a:prstGeom>
          <a:noFill/>
          <a:ln cap="flat" cmpd="sng" w="9525">
            <a:solidFill>
              <a:srgbClr val="01010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" name="Google Shape;268;p5"/>
          <p:cNvCxnSpPr/>
          <p:nvPr/>
        </p:nvCxnSpPr>
        <p:spPr>
          <a:xfrm flipH="1">
            <a:off x="3822840" y="3674880"/>
            <a:ext cx="1134720" cy="704160"/>
          </a:xfrm>
          <a:prstGeom prst="straightConnector1">
            <a:avLst/>
          </a:prstGeom>
          <a:noFill/>
          <a:ln cap="flat" cmpd="sng" w="9525">
            <a:solidFill>
              <a:srgbClr val="01010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69" name="Google Shape;269;p5"/>
          <p:cNvGrpSpPr/>
          <p:nvPr/>
        </p:nvGrpSpPr>
        <p:grpSpPr>
          <a:xfrm>
            <a:off x="3106440" y="3455280"/>
            <a:ext cx="1599120" cy="2130840"/>
            <a:chOff x="3106440" y="3455280"/>
            <a:chExt cx="1599120" cy="2130840"/>
          </a:xfrm>
        </p:grpSpPr>
        <p:sp>
          <p:nvSpPr>
            <p:cNvPr id="270" name="Google Shape;270;p5"/>
            <p:cNvSpPr/>
            <p:nvPr/>
          </p:nvSpPr>
          <p:spPr>
            <a:xfrm>
              <a:off x="3132360" y="4426560"/>
              <a:ext cx="1287720" cy="1159560"/>
            </a:xfrm>
            <a:prstGeom prst="roundRect">
              <a:avLst>
                <a:gd fmla="val 16667" name="adj"/>
              </a:avLst>
            </a:prstGeom>
            <a:solidFill>
              <a:srgbClr val="E4E1DB"/>
            </a:solidFill>
            <a:ln cap="flat" cmpd="sng" w="12700">
              <a:solidFill>
                <a:srgbClr val="A8A6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71" name="Google Shape;271;p5"/>
            <p:cNvCxnSpPr/>
            <p:nvPr/>
          </p:nvCxnSpPr>
          <p:spPr>
            <a:xfrm>
              <a:off x="3132360" y="4771440"/>
              <a:ext cx="1290600" cy="1440"/>
            </a:xfrm>
            <a:prstGeom prst="straightConnector1">
              <a:avLst/>
            </a:prstGeom>
            <a:noFill/>
            <a:ln cap="flat" cmpd="sng" w="9525">
              <a:solidFill>
                <a:srgbClr val="01010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2" name="Google Shape;272;p5"/>
            <p:cNvSpPr/>
            <p:nvPr/>
          </p:nvSpPr>
          <p:spPr>
            <a:xfrm>
              <a:off x="3106440" y="3455280"/>
              <a:ext cx="1599120" cy="1552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 b="0" i="0" sz="9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5"/>
            <p:cNvSpPr/>
            <p:nvPr/>
          </p:nvSpPr>
          <p:spPr>
            <a:xfrm>
              <a:off x="3227400" y="4834440"/>
              <a:ext cx="1269360" cy="699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 256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Function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4" name="Google Shape;274;p5"/>
          <p:cNvSpPr/>
          <p:nvPr/>
        </p:nvSpPr>
        <p:spPr>
          <a:xfrm>
            <a:off x="2593080" y="5132520"/>
            <a:ext cx="529560" cy="117108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4E1DB"/>
          </a:solidFill>
          <a:ln cap="flat" cmpd="sng" w="12700">
            <a:solidFill>
              <a:srgbClr val="A8A6A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3186000" y="6008040"/>
            <a:ext cx="147132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00003A459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5"/>
          <p:cNvCxnSpPr>
            <a:stCxn id="277" idx="1"/>
          </p:cNvCxnSpPr>
          <p:nvPr/>
        </p:nvCxnSpPr>
        <p:spPr>
          <a:xfrm flipH="1">
            <a:off x="8157360" y="2716560"/>
            <a:ext cx="898800" cy="1605600"/>
          </a:xfrm>
          <a:prstGeom prst="straightConnector1">
            <a:avLst/>
          </a:prstGeom>
          <a:noFill/>
          <a:ln cap="flat" cmpd="sng" w="9525">
            <a:solidFill>
              <a:srgbClr val="01010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" name="Google Shape;278;p5"/>
          <p:cNvCxnSpPr>
            <a:stCxn id="279" idx="1"/>
          </p:cNvCxnSpPr>
          <p:nvPr/>
        </p:nvCxnSpPr>
        <p:spPr>
          <a:xfrm flipH="1">
            <a:off x="8381580" y="3326220"/>
            <a:ext cx="664500" cy="1053000"/>
          </a:xfrm>
          <a:prstGeom prst="straightConnector1">
            <a:avLst/>
          </a:prstGeom>
          <a:noFill/>
          <a:ln cap="flat" cmpd="sng" w="9525">
            <a:solidFill>
              <a:srgbClr val="01010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80" name="Google Shape;280;p5"/>
          <p:cNvGrpSpPr/>
          <p:nvPr/>
        </p:nvGrpSpPr>
        <p:grpSpPr>
          <a:xfrm>
            <a:off x="7772040" y="3429000"/>
            <a:ext cx="1377360" cy="2135880"/>
            <a:chOff x="7772040" y="3429000"/>
            <a:chExt cx="1377360" cy="2135880"/>
          </a:xfrm>
        </p:grpSpPr>
        <p:sp>
          <p:nvSpPr>
            <p:cNvPr id="281" name="Google Shape;281;p5"/>
            <p:cNvSpPr/>
            <p:nvPr/>
          </p:nvSpPr>
          <p:spPr>
            <a:xfrm>
              <a:off x="7783920" y="4405320"/>
              <a:ext cx="1287720" cy="1159560"/>
            </a:xfrm>
            <a:prstGeom prst="roundRect">
              <a:avLst>
                <a:gd fmla="val 16667" name="adj"/>
              </a:avLst>
            </a:prstGeom>
            <a:solidFill>
              <a:srgbClr val="E4E1DB"/>
            </a:solidFill>
            <a:ln cap="flat" cmpd="sng" w="12700">
              <a:solidFill>
                <a:srgbClr val="A8A6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82" name="Google Shape;282;p5"/>
            <p:cNvCxnSpPr/>
            <p:nvPr/>
          </p:nvCxnSpPr>
          <p:spPr>
            <a:xfrm>
              <a:off x="7783560" y="4750200"/>
              <a:ext cx="1290600" cy="1440"/>
            </a:xfrm>
            <a:prstGeom prst="straightConnector1">
              <a:avLst/>
            </a:prstGeom>
            <a:noFill/>
            <a:ln cap="flat" cmpd="sng" w="9525">
              <a:solidFill>
                <a:srgbClr val="01010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3" name="Google Shape;283;p5"/>
            <p:cNvSpPr/>
            <p:nvPr/>
          </p:nvSpPr>
          <p:spPr>
            <a:xfrm>
              <a:off x="7772040" y="3429000"/>
              <a:ext cx="1335600" cy="1552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 b="0" i="0" sz="9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7880040" y="4804560"/>
              <a:ext cx="1269360" cy="699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 256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Function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5" name="Google Shape;285;p5"/>
          <p:cNvSpPr/>
          <p:nvPr/>
        </p:nvSpPr>
        <p:spPr>
          <a:xfrm>
            <a:off x="7799040" y="5933160"/>
            <a:ext cx="147132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00003D45F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"/>
          <p:cNvSpPr/>
          <p:nvPr/>
        </p:nvSpPr>
        <p:spPr>
          <a:xfrm>
            <a:off x="7244640" y="5037840"/>
            <a:ext cx="529560" cy="117108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4E1DB"/>
          </a:solidFill>
          <a:ln cap="flat" cmpd="sng" w="12700">
            <a:solidFill>
              <a:srgbClr val="A8A6A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5"/>
          <p:cNvSpPr/>
          <p:nvPr/>
        </p:nvSpPr>
        <p:spPr>
          <a:xfrm rot="-2902800">
            <a:off x="4571640" y="5180400"/>
            <a:ext cx="2514960" cy="77004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4E1DB"/>
          </a:solidFill>
          <a:ln cap="flat" cmpd="sng" w="12700">
            <a:solidFill>
              <a:srgbClr val="A8A6A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5"/>
          <p:cNvSpPr/>
          <p:nvPr/>
        </p:nvSpPr>
        <p:spPr>
          <a:xfrm rot="-2902800">
            <a:off x="9049680" y="5150880"/>
            <a:ext cx="2514960" cy="77004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4E1DB"/>
          </a:solidFill>
          <a:ln cap="flat" cmpd="sng" w="12700">
            <a:solidFill>
              <a:srgbClr val="A8A6A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5"/>
          <p:cNvSpPr/>
          <p:nvPr/>
        </p:nvSpPr>
        <p:spPr>
          <a:xfrm>
            <a:off x="2490120" y="338040"/>
            <a:ext cx="7099560" cy="5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Block Process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3095280" y="3350520"/>
            <a:ext cx="1815840" cy="654120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quadBezTo>
                  <a:pt x="20000" y="40000"/>
                  <a:pt x="109193" y="15000"/>
                </a:quadBezTo>
                <a:lnTo>
                  <a:pt x="108584" y="0"/>
                </a:lnTo>
                <a:lnTo>
                  <a:pt x="120000" y="24000"/>
                </a:lnTo>
                <a:lnTo>
                  <a:pt x="111020" y="60000"/>
                </a:lnTo>
                <a:lnTo>
                  <a:pt x="110411" y="45000"/>
                </a:lnTo>
                <a:quadBezTo>
                  <a:pt x="30000" y="55000"/>
                  <a:pt x="0" y="120000"/>
                </a:quadBezTo>
                <a:close/>
              </a:path>
            </a:pathLst>
          </a:custGeom>
          <a:solidFill>
            <a:srgbClr val="F44F25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"/>
          <p:cNvSpPr/>
          <p:nvPr/>
        </p:nvSpPr>
        <p:spPr>
          <a:xfrm rot="-424800">
            <a:off x="7305840" y="3278520"/>
            <a:ext cx="1751400" cy="663480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quadBezTo>
                  <a:pt x="20000" y="40000"/>
                  <a:pt x="103337" y="15000"/>
                </a:quadBezTo>
                <a:lnTo>
                  <a:pt x="102697" y="0"/>
                </a:lnTo>
                <a:lnTo>
                  <a:pt x="120000" y="24000"/>
                </a:lnTo>
                <a:lnTo>
                  <a:pt x="105258" y="60000"/>
                </a:lnTo>
                <a:lnTo>
                  <a:pt x="104617" y="45000"/>
                </a:lnTo>
                <a:quadBezTo>
                  <a:pt x="30000" y="55000"/>
                  <a:pt x="0" y="120000"/>
                </a:quadBezTo>
                <a:close/>
              </a:path>
            </a:pathLst>
          </a:custGeom>
          <a:solidFill>
            <a:srgbClr val="F44F25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4950720" y="2445840"/>
            <a:ext cx="23914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Timestamp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" name="Google Shape;293;p5"/>
          <p:cNvGrpSpPr/>
          <p:nvPr/>
        </p:nvGrpSpPr>
        <p:grpSpPr>
          <a:xfrm>
            <a:off x="684720" y="1172160"/>
            <a:ext cx="2413080" cy="3705480"/>
            <a:chOff x="684720" y="1172160"/>
            <a:chExt cx="2413080" cy="3705480"/>
          </a:xfrm>
        </p:grpSpPr>
        <p:sp>
          <p:nvSpPr>
            <p:cNvPr id="294" name="Google Shape;294;p5"/>
            <p:cNvSpPr/>
            <p:nvPr/>
          </p:nvSpPr>
          <p:spPr>
            <a:xfrm>
              <a:off x="1009800" y="4483080"/>
              <a:ext cx="1786680" cy="394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Genesis Block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726840" y="1172160"/>
              <a:ext cx="2370960" cy="3260880"/>
            </a:xfrm>
            <a:prstGeom prst="roundRect">
              <a:avLst>
                <a:gd fmla="val 16667" name="adj"/>
              </a:avLst>
            </a:prstGeom>
            <a:solidFill>
              <a:srgbClr val="BFBFBF"/>
            </a:solidFill>
            <a:ln cap="flat" cmpd="sng" w="12700">
              <a:solidFill>
                <a:srgbClr val="A8A6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6" name="Google Shape;296;p5"/>
            <p:cNvCxnSpPr/>
            <p:nvPr/>
          </p:nvCxnSpPr>
          <p:spPr>
            <a:xfrm>
              <a:off x="722880" y="1802160"/>
              <a:ext cx="2373840" cy="1440"/>
            </a:xfrm>
            <a:prstGeom prst="straightConnector1">
              <a:avLst/>
            </a:prstGeom>
            <a:noFill/>
            <a:ln cap="flat" cmpd="sng" w="9525">
              <a:solidFill>
                <a:srgbClr val="01010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7" name="Google Shape;297;p5"/>
            <p:cNvSpPr/>
            <p:nvPr/>
          </p:nvSpPr>
          <p:spPr>
            <a:xfrm>
              <a:off x="1107360" y="1302480"/>
              <a:ext cx="1889280" cy="39456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Block No. 01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8" name="Google Shape;298;p5"/>
            <p:cNvCxnSpPr/>
            <p:nvPr/>
          </p:nvCxnSpPr>
          <p:spPr>
            <a:xfrm>
              <a:off x="722880" y="3013200"/>
              <a:ext cx="2373840" cy="1440"/>
            </a:xfrm>
            <a:prstGeom prst="straightConnector1">
              <a:avLst/>
            </a:prstGeom>
            <a:noFill/>
            <a:ln cap="flat" cmpd="sng" w="9525">
              <a:solidFill>
                <a:srgbClr val="01010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9" name="Google Shape;299;p5"/>
            <p:cNvCxnSpPr/>
            <p:nvPr/>
          </p:nvCxnSpPr>
          <p:spPr>
            <a:xfrm>
              <a:off x="722880" y="3760560"/>
              <a:ext cx="2373840" cy="1440"/>
            </a:xfrm>
            <a:prstGeom prst="straightConnector1">
              <a:avLst/>
            </a:prstGeom>
            <a:noFill/>
            <a:ln cap="flat" cmpd="sng" w="9525">
              <a:solidFill>
                <a:srgbClr val="01010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0" name="Google Shape;300;p5"/>
            <p:cNvSpPr/>
            <p:nvPr/>
          </p:nvSpPr>
          <p:spPr>
            <a:xfrm>
              <a:off x="1388880" y="1853640"/>
              <a:ext cx="962280" cy="39456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684720" y="3209760"/>
              <a:ext cx="2370960" cy="394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Previous Hash: 0000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854640" y="3832920"/>
              <a:ext cx="2128680" cy="394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Hash: 0000D8C42 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1188000" y="2439360"/>
              <a:ext cx="1418400" cy="39456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Timestamp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4" name="Google Shape;304;p5"/>
            <p:cNvCxnSpPr/>
            <p:nvPr/>
          </p:nvCxnSpPr>
          <p:spPr>
            <a:xfrm>
              <a:off x="722880" y="2384280"/>
              <a:ext cx="2373840" cy="1440"/>
            </a:xfrm>
            <a:prstGeom prst="straightConnector1">
              <a:avLst/>
            </a:prstGeom>
            <a:noFill/>
            <a:ln cap="flat" cmpd="sng" w="9525">
              <a:solidFill>
                <a:srgbClr val="01010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305" name="Google Shape;305;p5"/>
          <p:cNvCxnSpPr/>
          <p:nvPr/>
        </p:nvCxnSpPr>
        <p:spPr>
          <a:xfrm>
            <a:off x="4960800" y="2409480"/>
            <a:ext cx="2373840" cy="1440"/>
          </a:xfrm>
          <a:prstGeom prst="straightConnector1">
            <a:avLst/>
          </a:prstGeom>
          <a:noFill/>
          <a:ln cap="flat" cmpd="sng" w="9525">
            <a:solidFill>
              <a:srgbClr val="01010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6" name="Google Shape;306;p5"/>
          <p:cNvGrpSpPr/>
          <p:nvPr/>
        </p:nvGrpSpPr>
        <p:grpSpPr>
          <a:xfrm>
            <a:off x="9046080" y="1086120"/>
            <a:ext cx="2391480" cy="3260880"/>
            <a:chOff x="9046080" y="1086120"/>
            <a:chExt cx="2391480" cy="3260880"/>
          </a:xfrm>
        </p:grpSpPr>
        <p:grpSp>
          <p:nvGrpSpPr>
            <p:cNvPr id="307" name="Google Shape;307;p5"/>
            <p:cNvGrpSpPr/>
            <p:nvPr/>
          </p:nvGrpSpPr>
          <p:grpSpPr>
            <a:xfrm>
              <a:off x="9056160" y="1086120"/>
              <a:ext cx="2373840" cy="3260880"/>
              <a:chOff x="9056160" y="1086120"/>
              <a:chExt cx="2373840" cy="3260880"/>
            </a:xfrm>
          </p:grpSpPr>
          <p:grpSp>
            <p:nvGrpSpPr>
              <p:cNvPr id="308" name="Google Shape;308;p5"/>
              <p:cNvGrpSpPr/>
              <p:nvPr/>
            </p:nvGrpSpPr>
            <p:grpSpPr>
              <a:xfrm>
                <a:off x="9056160" y="1086120"/>
                <a:ext cx="2373840" cy="3260880"/>
                <a:chOff x="9056160" y="1086120"/>
                <a:chExt cx="2373840" cy="3260880"/>
              </a:xfrm>
            </p:grpSpPr>
            <p:sp>
              <p:nvSpPr>
                <p:cNvPr id="277" name="Google Shape;277;p5"/>
                <p:cNvSpPr/>
                <p:nvPr/>
              </p:nvSpPr>
              <p:spPr>
                <a:xfrm>
                  <a:off x="9056160" y="1086120"/>
                  <a:ext cx="2370960" cy="326088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B4AB9B"/>
                </a:solidFill>
                <a:ln cap="flat" cmpd="sng" w="12700">
                  <a:solidFill>
                    <a:srgbClr val="A8A6A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309" name="Google Shape;309;p5"/>
                <p:cNvCxnSpPr/>
                <p:nvPr/>
              </p:nvCxnSpPr>
              <p:spPr>
                <a:xfrm>
                  <a:off x="9056160" y="1716120"/>
                  <a:ext cx="2373840" cy="144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10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10" name="Google Shape;310;p5"/>
                <p:cNvSpPr/>
                <p:nvPr/>
              </p:nvSpPr>
              <p:spPr>
                <a:xfrm>
                  <a:off x="9066600" y="1216800"/>
                  <a:ext cx="2292840" cy="3945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000" lIns="90000" spcFirstLastPara="1" rIns="90000" wrap="square" tIns="450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20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Block No. 03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1" name="Google Shape;311;p5"/>
                <p:cNvCxnSpPr/>
                <p:nvPr/>
              </p:nvCxnSpPr>
              <p:spPr>
                <a:xfrm>
                  <a:off x="9056160" y="2927160"/>
                  <a:ext cx="2373840" cy="144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10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2" name="Google Shape;312;p5"/>
                <p:cNvCxnSpPr/>
                <p:nvPr/>
              </p:nvCxnSpPr>
              <p:spPr>
                <a:xfrm>
                  <a:off x="9056160" y="3674880"/>
                  <a:ext cx="2373840" cy="144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10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13" name="Google Shape;313;p5"/>
              <p:cNvSpPr/>
              <p:nvPr/>
            </p:nvSpPr>
            <p:spPr>
              <a:xfrm>
                <a:off x="9066600" y="1846800"/>
                <a:ext cx="2360880" cy="394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Data</a:t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9" name="Google Shape;279;p5"/>
            <p:cNvSpPr/>
            <p:nvPr/>
          </p:nvSpPr>
          <p:spPr>
            <a:xfrm>
              <a:off x="9046080" y="2938320"/>
              <a:ext cx="2360880" cy="77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Previous Hash: 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601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00003A459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9066600" y="3805200"/>
              <a:ext cx="2370960" cy="394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Hash: 00003D45F  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9056160" y="2265120"/>
              <a:ext cx="2360880" cy="394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Timestamp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6" name="Google Shape;316;p5"/>
            <p:cNvCxnSpPr/>
            <p:nvPr/>
          </p:nvCxnSpPr>
          <p:spPr>
            <a:xfrm>
              <a:off x="9056160" y="2284200"/>
              <a:ext cx="2373840" cy="1440"/>
            </a:xfrm>
            <a:prstGeom prst="straightConnector1">
              <a:avLst/>
            </a:prstGeom>
            <a:noFill/>
            <a:ln cap="flat" cmpd="sng" w="9525">
              <a:solidFill>
                <a:srgbClr val="01010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17" name="Google Shape;317;p5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"/>
          <p:cNvSpPr/>
          <p:nvPr/>
        </p:nvSpPr>
        <p:spPr>
          <a:xfrm>
            <a:off x="696240" y="303120"/>
            <a:ext cx="1079820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1209960" y="1574640"/>
            <a:ext cx="10418448" cy="4707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514440" lvl="0" marL="5144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Bodoni"/>
              <a:buAutoNum type="romanL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we implement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real‑time liveness detection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fingerprint and iris enrollment that reliably blocks spoofing without degrading user experience?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440" lvl="0" marL="514440" marR="0" rtl="0" algn="just">
              <a:lnSpc>
                <a:spcPct val="100000"/>
              </a:lnSpc>
              <a:spcBef>
                <a:spcPts val="2401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Bodoni"/>
              <a:buAutoNum type="romanL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protocol design seamlessly fuses on‑the‑fly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biometric verification with ring‑signature proofs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ensure anonymous, unforgeable vote casting?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440" lvl="0" marL="514440" marR="0" rtl="0" algn="just">
              <a:lnSpc>
                <a:spcPct val="100000"/>
              </a:lnSpc>
              <a:spcBef>
                <a:spcPts val="2401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Bodoni"/>
              <a:buAutoNum type="romanL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we extend and formally verify blockchain smart contracts to audit hashed biometric templates on‑chain while preserving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confidentiality and integrity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b="0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440" lvl="0" marL="514440" marR="0" rtl="0" algn="just">
              <a:lnSpc>
                <a:spcPct val="100000"/>
              </a:lnSpc>
              <a:spcBef>
                <a:spcPts val="2401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Bodoni"/>
              <a:buAutoNum type="romanL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we derive and optimize closed‑form time complexity bounds for each phase of the biometric‑blockchain workflow to guarantee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real‑time scalability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"/>
          <p:cNvSpPr/>
          <p:nvPr/>
        </p:nvSpPr>
        <p:spPr>
          <a:xfrm>
            <a:off x="645480" y="334440"/>
            <a:ext cx="1079820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 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645480" y="1143000"/>
            <a:ext cx="5449320" cy="5420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Bangladesh and globally, various voting systems have been used, each with its own strengths and limitations: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32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Ballot Paper-Based Voting: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482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in national and local elections.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482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physical presence and manual vote counting.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74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7315200" y="4114800"/>
            <a:ext cx="4735440" cy="2068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🕒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Time-Consuming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482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🧍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Physical Presence</a:t>
            </a:r>
            <a:r>
              <a:rPr b="0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482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✋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Prone to Manipulation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482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💰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Cost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07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7"/>
          <p:cNvSpPr/>
          <p:nvPr/>
        </p:nvSpPr>
        <p:spPr>
          <a:xfrm>
            <a:off x="7274880" y="1984643"/>
            <a:ext cx="4735440" cy="1678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🔐</a:t>
            </a:r>
            <a:r>
              <a:rPr b="1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Limited Transparency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482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🖥️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Architecture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482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🤔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Trust Issues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685800" y="3886200"/>
            <a:ext cx="5449320" cy="27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Electronic Voting Machine(EVM):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1049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in some elections to speed up the voting process.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Offers faster results but has faced criticism over transparency and trust.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1191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systems with limited public auditability.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"/>
          <p:cNvSpPr/>
          <p:nvPr/>
        </p:nvSpPr>
        <p:spPr>
          <a:xfrm>
            <a:off x="675720" y="81788"/>
            <a:ext cx="1079820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 (1/2) 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8"/>
          <p:cNvSpPr/>
          <p:nvPr/>
        </p:nvSpPr>
        <p:spPr>
          <a:xfrm>
            <a:off x="593110" y="146649"/>
            <a:ext cx="10880810" cy="656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Improved Secure and Efficient E-Voting Scheme Based on Blockchain Systems [1] 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Introduction: 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paper proposes ISE-Voting, a blockchain-based e-voting system designed to enhance security, privacy, and efficiency without relying on a centralized authority.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Contributions: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ring signatures and secret sharing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secure, anonymous voting.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verifiable, distributed vote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counting via cloud assistance.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post-quantum security with high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scalability.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Limitations: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Lacks biometric authentication.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Relies on participant cooperation for secret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sharing.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efficient with a high number of candidates.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8560" y="2661412"/>
            <a:ext cx="4132080" cy="3949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"/>
          <p:cNvSpPr/>
          <p:nvPr/>
        </p:nvSpPr>
        <p:spPr>
          <a:xfrm>
            <a:off x="645480" y="334440"/>
            <a:ext cx="1079820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 (2/2) 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9"/>
          <p:cNvSpPr/>
          <p:nvPr/>
        </p:nvSpPr>
        <p:spPr>
          <a:xfrm>
            <a:off x="645480" y="1052280"/>
            <a:ext cx="11049840" cy="5600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Transforming online voting: a novel system utilizing blockchain and biometric verification for enhanced security, privacy, and transparency. [2]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99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Proposes a secure online voting system using blockchain and bio-metric verification(face &amp; fingerprint) to improve election security and transparency.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Contributions: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blockchain with bio-metrics for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Secure, verifiable voting.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Hyperledger Fabric for tamper-proof records.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with 100 users; 88% successfully voted.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Needs bio-metric-enabled devices.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Votes can't be changed once cast.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bio-metric verification failures.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Google Shape;36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33000">
            <a:off x="7228955" y="2927914"/>
            <a:ext cx="4317634" cy="3806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5" name="Google Shape;365;p10"/>
          <p:cNvGraphicFramePr/>
          <p:nvPr/>
        </p:nvGraphicFramePr>
        <p:xfrm>
          <a:off x="820080" y="856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{40E5D6A9-707A-447F-B015-F6BA8C5CC2A7}</a:tableStyleId>
              </a:tblPr>
              <a:tblGrid>
                <a:gridCol w="3177000"/>
                <a:gridCol w="3873250"/>
                <a:gridCol w="3733550"/>
              </a:tblGrid>
              <a:tr h="37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Name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200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Contributions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200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200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Overview of Joint Bio-metric Identification for Secure Online Voting with Blockchain Technology. [3]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200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rgbClr val="C9211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Face and finger 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 .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Encrypted bio-metric data using </a:t>
                      </a:r>
                      <a:r>
                        <a:rPr b="0" lang="en-US" sz="2000" u="none" cap="none" strike="noStrike">
                          <a:solidFill>
                            <a:srgbClr val="C9211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ECC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0101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Secured vote via blockchain. 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0101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</a:t>
                      </a:r>
                      <a:r>
                        <a:rPr b="0" lang="en-US" sz="2000" u="none" cap="none" strike="noStrike">
                          <a:solidFill>
                            <a:srgbClr val="C9211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OTP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for safe login. 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200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 </a:t>
                      </a:r>
                      <a:r>
                        <a:rPr b="0" lang="en-US" sz="2000" u="none" cap="none" strike="noStrike">
                          <a:solidFill>
                            <a:srgbClr val="C9211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Device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with bio-metric sensor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Slight </a:t>
                      </a:r>
                      <a:r>
                        <a:rPr b="0" lang="en-US" sz="2000" u="none" cap="none" strike="noStrike">
                          <a:solidFill>
                            <a:srgbClr val="C9211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delay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 Processing.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0101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Complex setup &amp; maintenance.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Biometric</a:t>
                      </a:r>
                      <a:r>
                        <a:rPr b="0" lang="en-US" sz="20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data privacy </a:t>
                      </a: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concern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200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20000"/>
                      </a:schemeClr>
                    </a:solidFill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Vote Chain: 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Promising a Secure and Transparent Election using Blockchain and Bio-metrics[4]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350" marL="63350">
                    <a:lnL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0101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Combines</a:t>
                      </a:r>
                      <a:r>
                        <a:rPr b="0" lang="en-US" sz="2000" u="none" cap="none" strike="noStrike">
                          <a:solidFill>
                            <a:srgbClr val="FF4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0" lang="en-US" sz="20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bio-metric and blockchain.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0101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</a:t>
                      </a:r>
                      <a:r>
                        <a:rPr b="0" lang="en-US" sz="20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smart contact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for vote validation.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Reliance against </a:t>
                      </a:r>
                      <a:r>
                        <a:rPr b="0" lang="en-US" sz="20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technical failure.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350" marL="63350">
                    <a:lnL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0101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 </a:t>
                      </a:r>
                      <a:r>
                        <a:rPr b="0" lang="en-US" sz="20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bio-metric hardware.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 rejection</a:t>
                      </a: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 bio-metric verification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0" lang="en-US" sz="20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Scalability</a:t>
                      </a: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still a concern in very large elections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350" marL="63350">
                    <a:lnL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BP-Vot : 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Blockchain-Based e-Voting Using Smart Contracts, Differential Privacy, and Self-Sovereign Identities.[5]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350" marL="63350">
                    <a:lnL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0101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Combines </a:t>
                      </a:r>
                      <a:r>
                        <a:rPr b="0" lang="en-US" sz="20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blockchain, DP, and SSI.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0101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 (k,c)-DP to hide votes.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0101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24% faster,&gt;98% accurate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350" marL="63350">
                    <a:lnL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Slower with many nodes.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0101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 </a:t>
                      </a:r>
                      <a:r>
                        <a:rPr b="0" lang="en-US" sz="20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SSI support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0101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 privacy with 2 candidate.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3080" lvl="0" marL="343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0101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 </a:t>
                      </a:r>
                      <a:r>
                        <a:rPr b="0" lang="en-US" sz="20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trusted 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 issuer.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350" marL="63350">
                    <a:lnL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66" name="Google Shape;366;p10"/>
          <p:cNvSpPr/>
          <p:nvPr/>
        </p:nvSpPr>
        <p:spPr>
          <a:xfrm>
            <a:off x="675720" y="225170"/>
            <a:ext cx="1079820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 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11571480" y="614181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1"/>
          <p:cNvSpPr/>
          <p:nvPr/>
        </p:nvSpPr>
        <p:spPr>
          <a:xfrm>
            <a:off x="1039680" y="1209960"/>
            <a:ext cx="10111680" cy="5343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Single‑Factor Proofing Risk: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Relies solely on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‑issued credentials.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Absence of additional identity checks leaves the system vulnerable to impersonation.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Biometric Liveness Integration: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Fingerprint and iris modalities verify a voter’s physical presence and Real‑time liveness detection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Double‑Layer Authentication: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Something You Are.</a:t>
            </a:r>
            <a:endParaRPr b="0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79" lvl="1" marL="8002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Something You Have.</a:t>
            </a:r>
            <a:endParaRPr b="0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 Through Complexity Analysis: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 closed‑form time‑complexity for enrollment, verification, hashing, and on‑chain submission.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2522520" y="303120"/>
            <a:ext cx="709956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"/>
          <p:cNvSpPr/>
          <p:nvPr/>
        </p:nvSpPr>
        <p:spPr>
          <a:xfrm>
            <a:off x="2341562" y="1676995"/>
            <a:ext cx="8047080" cy="393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liveness‑checked enrollment for </a:t>
            </a:r>
            <a:r>
              <a:rPr b="1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fingerprint and iris biometrics.</a:t>
            </a:r>
            <a:endParaRPr b="1" i="0" sz="2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2401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specify a </a:t>
            </a:r>
            <a:r>
              <a:rPr b="1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double‑layer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cast‑time protocol combining </a:t>
            </a:r>
            <a:r>
              <a:rPr b="1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biometric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b="1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ring‑signature proofs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2401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extend and formally verify </a:t>
            </a:r>
            <a:r>
              <a:rPr b="1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 (smart contracts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for secure on‑chain storage and audit of </a:t>
            </a:r>
            <a:r>
              <a:rPr b="1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biometric hashes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2401"/>
              </a:spcBef>
              <a:spcAft>
                <a:spcPts val="0"/>
              </a:spcAft>
              <a:buClr>
                <a:srgbClr val="01010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derive closed‑form time complexity bounds for each phase and optimize bottlenecks.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2522520" y="303120"/>
            <a:ext cx="709956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" name="Google Shape;38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3"/>
          <p:cNvSpPr/>
          <p:nvPr/>
        </p:nvSpPr>
        <p:spPr>
          <a:xfrm>
            <a:off x="2522520" y="303120"/>
            <a:ext cx="709956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Architecture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0188" y="978120"/>
            <a:ext cx="7642352" cy="518305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3"/>
          <p:cNvSpPr txBox="1"/>
          <p:nvPr/>
        </p:nvSpPr>
        <p:spPr>
          <a:xfrm>
            <a:off x="932446" y="1432310"/>
            <a:ext cx="3180148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diagram shows the three operational phases enrollment, </a:t>
            </a:r>
            <a:r>
              <a:rPr b="1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vote casting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ballot tallying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highlighting interactions between </a:t>
            </a:r>
            <a:r>
              <a:rPr b="1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sensors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on‑chain stores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contracts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off‑chain tally services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4"/>
          <p:cNvSpPr/>
          <p:nvPr/>
        </p:nvSpPr>
        <p:spPr>
          <a:xfrm>
            <a:off x="2522520" y="303120"/>
            <a:ext cx="709956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 Diagram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980" y="1948320"/>
            <a:ext cx="10907640" cy="296136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4"/>
          <p:cNvSpPr/>
          <p:nvPr/>
        </p:nvSpPr>
        <p:spPr>
          <a:xfrm>
            <a:off x="1403280" y="5124128"/>
            <a:ext cx="9837360" cy="829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DFD clarifies data storage elements and process flows, ensuring each artifact (hash, signature, shares) is accounted for in governance and auditing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5"/>
          <p:cNvSpPr/>
          <p:nvPr/>
        </p:nvSpPr>
        <p:spPr>
          <a:xfrm>
            <a:off x="2522520" y="303120"/>
            <a:ext cx="709956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 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040" y="1063800"/>
            <a:ext cx="10478880" cy="5504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6"/>
          <p:cNvSpPr/>
          <p:nvPr/>
        </p:nvSpPr>
        <p:spPr>
          <a:xfrm>
            <a:off x="2545560" y="338040"/>
            <a:ext cx="709956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Grant Chart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3" name="Google Shape;4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120" y="1143000"/>
            <a:ext cx="10972080" cy="5294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7"/>
          <p:cNvSpPr/>
          <p:nvPr/>
        </p:nvSpPr>
        <p:spPr>
          <a:xfrm>
            <a:off x="2545560" y="338040"/>
            <a:ext cx="709956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Budget Table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4" name="Google Shape;434;p17"/>
          <p:cNvGraphicFramePr/>
          <p:nvPr/>
        </p:nvGraphicFramePr>
        <p:xfrm>
          <a:off x="733320" y="1256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{40E5D6A9-707A-447F-B015-F6BA8C5CC2A7}</a:tableStyleId>
              </a:tblPr>
              <a:tblGrid>
                <a:gridCol w="780850"/>
                <a:gridCol w="1790650"/>
                <a:gridCol w="2838250"/>
                <a:gridCol w="1019150"/>
                <a:gridCol w="1438200"/>
                <a:gridCol w="1247750"/>
                <a:gridCol w="1609550"/>
              </a:tblGrid>
              <a:tr h="598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Points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2D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2D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Unit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2D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 of Unit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2D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 Unit Cost (Tk)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2D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Duration (Month)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2D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Cost (BDT-Tk)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2D7B"/>
                    </a:solidFill>
                  </a:tcPr>
                </a:tc>
              </a:tr>
              <a:tr h="478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Collection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Travel &amp; Testing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5,000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50,000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</a:tr>
              <a:tr h="65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Blockchain Setup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Cloud-based blockchain nodes (AWS / Azure)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10,000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1,20,000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03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Laptop &amp; IoT Devices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80,000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------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1,60,000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</a:tr>
              <a:tr h="43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04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Publication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Conference / Journal Fees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---------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------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1,00,000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</a:tr>
              <a:tr h="46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05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Software Tools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 Tools ( Colab Pro )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1,500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18,000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</a:tr>
              <a:tr h="598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06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Hosting &amp; Domain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Hosting for certificate verification portal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12,000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12,000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</a:tr>
              <a:tr h="44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07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Miscellaneous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General Expenses (Print)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--------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1,000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12,000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ECC"/>
                    </a:solidFill>
                  </a:tcPr>
                </a:tc>
              </a:tr>
              <a:tr h="44747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4,72,000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8450" marL="28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8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8"/>
          <p:cNvSpPr/>
          <p:nvPr/>
        </p:nvSpPr>
        <p:spPr>
          <a:xfrm>
            <a:off x="2545560" y="338040"/>
            <a:ext cx="709956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1921320" y="1598456"/>
            <a:ext cx="8853072" cy="3661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lang="en-US" sz="2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biometrics and </a:t>
            </a:r>
            <a:r>
              <a:rPr b="1" lang="en-US" sz="2400" u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double-layer verification </a:t>
            </a:r>
            <a:r>
              <a:rPr b="0" lang="en-US" sz="2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implemented in blockchain-based e-voting systems with tolerable overhead.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lang="en-US" sz="2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Investigating </a:t>
            </a:r>
            <a:r>
              <a:rPr b="1" lang="en-US" sz="2400" u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zero-knowledge biometric proofs </a:t>
            </a:r>
            <a:r>
              <a:rPr b="0" lang="en-US" sz="2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enhanced privacy.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lang="en-US" sz="2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Exploring </a:t>
            </a:r>
            <a:r>
              <a:rPr b="1" lang="en-US" sz="2400" u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geo-distributed tallies </a:t>
            </a:r>
            <a:r>
              <a:rPr b="0" lang="en-US" sz="2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via hierarchical secret sharing for resilience and scalability.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lang="en-US" sz="2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Conducting real-world pilot studies with human subjects to validate the approach in practical scenarios.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1" name="Google Shape;4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8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9"/>
          <p:cNvSpPr/>
          <p:nvPr/>
        </p:nvSpPr>
        <p:spPr>
          <a:xfrm>
            <a:off x="1891080" y="2220120"/>
            <a:ext cx="8362800" cy="228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1268400" y="1002240"/>
            <a:ext cx="9655200" cy="580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An Improved Secure and Efficient E-Voting Scheme Based on Blockchain Systems(2025) </a:t>
            </a:r>
            <a:r>
              <a:rPr b="0" lang="en-US" sz="2200" u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DOI: 10.1109/JIOT.2024.3507366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3592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Transforming online voting: a novel system utilizing blockchain and biometric verification for enhanced security, privacy, and transparency. 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2183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3465A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DOI: 10.1007/s10586-023-04261-x 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992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An Overview of Joint Bio-metric Identification for Secure Online Voting with Blockchain Technology</a:t>
            </a:r>
            <a:r>
              <a:rPr b="1" lang="en-US" sz="2200" u="none" strike="noStrike">
                <a:solidFill>
                  <a:srgbClr val="3465A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0" lang="en-US" sz="2200" u="none" strike="noStrike">
                <a:solidFill>
                  <a:srgbClr val="3465A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DOI:10.1109/ICIMIA60377.2023.10426344 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1"/>
              </a:spcBef>
              <a:spcAft>
                <a:spcPts val="0"/>
              </a:spcAft>
              <a:buNone/>
            </a:pPr>
            <a:r>
              <a:t/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</a:t>
            </a:r>
            <a:r>
              <a:rPr b="1" lang="en-US" sz="2200" u="none" strike="noStrike">
                <a:solidFill>
                  <a:srgbClr val="3465A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VoteChain: Promising a Secure and Transparent Election using Blockchain. </a:t>
            </a:r>
            <a:r>
              <a:rPr b="0" lang="en-US" sz="2200" u="none" strike="noStrike">
                <a:solidFill>
                  <a:srgbClr val="3465A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DOI:10.1109/ICPECTS62210.2024.10780340</a:t>
            </a:r>
            <a:r>
              <a:rPr b="0" lang="en-US" sz="22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1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</a:t>
            </a:r>
            <a:r>
              <a:rPr b="1" lang="en-US" sz="2200" u="none" strike="noStrike">
                <a:solidFill>
                  <a:srgbClr val="3465A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BP-Vot: Blockchain-Based e-Voting Using Smart Contracts, Differential Privacy, and Self-Sovereign Identities. </a:t>
            </a:r>
            <a:r>
              <a:rPr b="0" lang="en-US" sz="2200" u="none" strike="noStrike">
                <a:solidFill>
                  <a:srgbClr val="3465A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DOI:10.1109/ACCESS.2025.3548404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2522520" y="303120"/>
            <a:ext cx="709956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11473920" y="6046920"/>
            <a:ext cx="59724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" name="Google Shape;4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0" y="30312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0640" y="352440"/>
            <a:ext cx="694800" cy="6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94800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95880" y="-23400"/>
            <a:ext cx="694800" cy="6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0"/>
          <p:cNvSpPr/>
          <p:nvPr/>
        </p:nvSpPr>
        <p:spPr>
          <a:xfrm>
            <a:off x="2489040" y="2766240"/>
            <a:ext cx="5993280" cy="132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THANK</a:t>
            </a:r>
            <a:r>
              <a:rPr b="1" lang="en-US" sz="5600" u="none" cap="none" strike="noStrike">
                <a:solidFill>
                  <a:srgbClr val="786B7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YOU</a:t>
            </a:r>
            <a:endParaRPr b="0" sz="5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2844360" y="3250800"/>
            <a:ext cx="5993280" cy="49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1"/>
          <p:cNvSpPr/>
          <p:nvPr/>
        </p:nvSpPr>
        <p:spPr>
          <a:xfrm>
            <a:off x="399240" y="2496960"/>
            <a:ext cx="11392200" cy="20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</a:t>
            </a:r>
            <a:r>
              <a:rPr b="1" lang="en-US" sz="6000" u="none" strike="noStrike">
                <a:solidFill>
                  <a:srgbClr val="786B74"/>
                </a:solidFill>
                <a:latin typeface="Arial"/>
                <a:ea typeface="Arial"/>
                <a:cs typeface="Arial"/>
                <a:sym typeface="Arial"/>
              </a:rPr>
              <a:t>Questions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 u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?</a:t>
            </a:r>
            <a:endParaRPr b="0" sz="6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2024-11-16T18:35:46Z</dcterms:created>
  <dc:creator>HP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1</vt:i4>
  </property>
  <property fmtid="{D5CDD505-2E9C-101B-9397-08002B2CF9AE}" pid="4" name="PresentationFormat">
    <vt:lpwstr>Widescreen</vt:lpwstr>
  </property>
  <property fmtid="{D5CDD505-2E9C-101B-9397-08002B2CF9AE}" pid="5" name="Slides">
    <vt:i4>21</vt:i4>
  </property>
</Properties>
</file>